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0" r:id="rId4"/>
    <p:sldId id="272" r:id="rId5"/>
    <p:sldId id="260" r:id="rId6"/>
    <p:sldId id="273" r:id="rId7"/>
    <p:sldId id="274" r:id="rId8"/>
    <p:sldId id="275" r:id="rId9"/>
    <p:sldId id="276" r:id="rId10"/>
    <p:sldId id="277" r:id="rId11"/>
    <p:sldId id="278" r:id="rId12"/>
    <p:sldId id="28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D486F8-1188-441E-9AE1-25146701070A}" v="69" dt="2026-01-15T14:36:58.2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8668" autoAdjust="0"/>
  </p:normalViewPr>
  <p:slideViewPr>
    <p:cSldViewPr snapToGrid="0">
      <p:cViewPr varScale="1">
        <p:scale>
          <a:sx n="79" d="100"/>
          <a:sy n="79" d="100"/>
        </p:scale>
        <p:origin x="93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F1340-0D79-4E52-86A2-69DFDEABCA4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2E69-096D-40C3-9B9F-C12CA52F5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21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</a:t>
            </a:r>
            <a:endParaRPr lang="en-US" dirty="0"/>
          </a:p>
          <a:p>
            <a:r>
              <a:rPr lang="en-US" dirty="0"/>
              <a:t>Problem: LLMs don’t know your private data</a:t>
            </a:r>
          </a:p>
          <a:p>
            <a:r>
              <a:rPr lang="en-US" dirty="0"/>
              <a:t>Classic flow:</a:t>
            </a:r>
          </a:p>
          <a:p>
            <a:pPr lvl="1"/>
            <a:r>
              <a:rPr lang="en-US" dirty="0"/>
              <a:t>User query → retrieve top-k chunks → generate answer</a:t>
            </a:r>
          </a:p>
          <a:p>
            <a:r>
              <a:rPr lang="en-US" dirty="0"/>
              <a:t>Works great for:</a:t>
            </a:r>
          </a:p>
          <a:p>
            <a:pPr lvl="1"/>
            <a:r>
              <a:rPr lang="en-US" dirty="0"/>
              <a:t>Fact lookup</a:t>
            </a:r>
          </a:p>
          <a:p>
            <a:pPr lvl="1"/>
            <a:r>
              <a:rPr lang="en-US" dirty="0"/>
              <a:t>Single-document questions</a:t>
            </a:r>
          </a:p>
          <a:p>
            <a:r>
              <a:rPr lang="en-US" dirty="0"/>
              <a:t>Important framing:</a:t>
            </a:r>
          </a:p>
          <a:p>
            <a:pPr lvl="1"/>
            <a:r>
              <a:rPr lang="en-US" dirty="0"/>
              <a:t>RAG = </a:t>
            </a:r>
            <a:r>
              <a:rPr lang="en-US" b="1" dirty="0"/>
              <a:t>retrieve once, answer once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2E69-096D-40C3-9B9F-C12CA52F5F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71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19509-C95A-8B5F-82F9-AEB70C61E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FFF4B-F213-34AE-73D6-91846FCD5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A9FA1-33EB-88DD-8E56-6DF2E727E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</a:t>
            </a:r>
            <a:endParaRPr lang="en-US" dirty="0"/>
          </a:p>
          <a:p>
            <a:r>
              <a:rPr lang="en-US" dirty="0"/>
              <a:t>Problem: LLMs don’t know your private data</a:t>
            </a:r>
          </a:p>
          <a:p>
            <a:r>
              <a:rPr lang="en-US" dirty="0"/>
              <a:t>Classic flow:</a:t>
            </a:r>
          </a:p>
          <a:p>
            <a:pPr lvl="1"/>
            <a:r>
              <a:rPr lang="en-US" dirty="0"/>
              <a:t>User query → retrieve top-k chunks → generate answer</a:t>
            </a:r>
          </a:p>
          <a:p>
            <a:r>
              <a:rPr lang="en-US" dirty="0"/>
              <a:t>Works great for:</a:t>
            </a:r>
          </a:p>
          <a:p>
            <a:pPr lvl="1"/>
            <a:r>
              <a:rPr lang="en-US" dirty="0"/>
              <a:t>Fact lookup</a:t>
            </a:r>
          </a:p>
          <a:p>
            <a:pPr lvl="1"/>
            <a:r>
              <a:rPr lang="en-US" dirty="0"/>
              <a:t>Single-document questions</a:t>
            </a:r>
          </a:p>
          <a:p>
            <a:r>
              <a:rPr lang="en-US" dirty="0"/>
              <a:t>Important framing:</a:t>
            </a:r>
          </a:p>
          <a:p>
            <a:pPr lvl="1"/>
            <a:r>
              <a:rPr lang="en-US" dirty="0"/>
              <a:t>RAG = </a:t>
            </a:r>
            <a:r>
              <a:rPr lang="en-US" b="1" dirty="0"/>
              <a:t>retrieve once, answer once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10359-D72E-6B32-C9D0-5237362A3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2E69-096D-40C3-9B9F-C12CA52F5F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59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</a:t>
            </a:r>
            <a:endParaRPr lang="en-US" dirty="0"/>
          </a:p>
          <a:p>
            <a:r>
              <a:rPr lang="en-US" dirty="0"/>
              <a:t>Three common failure modes:</a:t>
            </a:r>
          </a:p>
          <a:p>
            <a:pPr lvl="1"/>
            <a:r>
              <a:rPr lang="en-US" dirty="0"/>
              <a:t>Fixed retrieval strategy</a:t>
            </a:r>
          </a:p>
          <a:p>
            <a:pPr lvl="1"/>
            <a:r>
              <a:rPr lang="en-US" dirty="0"/>
              <a:t>Single-shot reasoning</a:t>
            </a:r>
          </a:p>
          <a:p>
            <a:pPr lvl="1"/>
            <a:r>
              <a:rPr lang="en-US" dirty="0"/>
              <a:t>No ability to recover when retrieval is bad</a:t>
            </a:r>
          </a:p>
          <a:p>
            <a:r>
              <a:rPr lang="en-US" dirty="0"/>
              <a:t>The system assumes:</a:t>
            </a:r>
          </a:p>
          <a:p>
            <a:pPr lvl="1"/>
            <a:r>
              <a:rPr lang="en-US" dirty="0"/>
              <a:t>The user asked the perfect question</a:t>
            </a:r>
          </a:p>
          <a:p>
            <a:pPr lvl="1"/>
            <a:r>
              <a:rPr lang="en-US" dirty="0"/>
              <a:t>The first retrieval is sufficient</a:t>
            </a:r>
          </a:p>
          <a:p>
            <a:r>
              <a:rPr lang="en-US" dirty="0"/>
              <a:t>Reality: neither is usually true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2E69-096D-40C3-9B9F-C12CA52F5F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30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AC2F0-FAE5-94EF-C368-CF6EE665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021F1-910B-C0B3-BDAD-80A4D2FE1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B1110-D70A-90F2-5DEF-F69D570AA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</a:t>
            </a:r>
            <a:endParaRPr lang="en-US" dirty="0"/>
          </a:p>
          <a:p>
            <a:r>
              <a:rPr lang="en-US" dirty="0"/>
              <a:t>Agentic RAG adds:</a:t>
            </a:r>
          </a:p>
          <a:p>
            <a:pPr lvl="1"/>
            <a:r>
              <a:rPr lang="en-US" dirty="0"/>
              <a:t>Decision-making</a:t>
            </a:r>
          </a:p>
          <a:p>
            <a:pPr lvl="1"/>
            <a:r>
              <a:rPr lang="en-US" dirty="0"/>
              <a:t>Iteration</a:t>
            </a:r>
          </a:p>
          <a:p>
            <a:pPr lvl="1"/>
            <a:r>
              <a:rPr lang="en-US" dirty="0"/>
              <a:t>Tool use</a:t>
            </a:r>
          </a:p>
          <a:p>
            <a:pPr lvl="1"/>
            <a:r>
              <a:rPr lang="en-US" dirty="0"/>
              <a:t>State</a:t>
            </a:r>
          </a:p>
          <a:p>
            <a:r>
              <a:rPr lang="en-US" dirty="0"/>
              <a:t>Simple definition:</a:t>
            </a:r>
          </a:p>
          <a:p>
            <a:pPr lvl="1"/>
            <a:r>
              <a:rPr lang="en-US" i="1" dirty="0"/>
              <a:t>Agentic RAG = RAG with a control loop</a:t>
            </a:r>
            <a:endParaRPr lang="en-US" dirty="0"/>
          </a:p>
          <a:p>
            <a:r>
              <a:rPr lang="en-US" dirty="0"/>
              <a:t>The system can now ask:</a:t>
            </a:r>
          </a:p>
          <a:p>
            <a:pPr lvl="1"/>
            <a:r>
              <a:rPr lang="en-US" dirty="0"/>
              <a:t>“Do I need more info?”</a:t>
            </a:r>
          </a:p>
          <a:p>
            <a:pPr lvl="1"/>
            <a:r>
              <a:rPr lang="en-US" dirty="0"/>
              <a:t>“Should I search again?”</a:t>
            </a:r>
          </a:p>
          <a:p>
            <a:pPr lvl="1"/>
            <a:r>
              <a:rPr lang="en-US" dirty="0"/>
              <a:t>“Should I use a different tool?”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65701-F58C-D397-BFD0-5298D952D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2E69-096D-40C3-9B9F-C12CA52F5F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01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80FE4-28ED-4FC2-30D7-B0B89762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27B27-1A60-354B-A75A-19FD0AC12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AF47E-84B5-A974-43F1-4BFFA7788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</a:t>
            </a:r>
            <a:endParaRPr lang="en-US" dirty="0"/>
          </a:p>
          <a:p>
            <a:r>
              <a:rPr lang="en-US" dirty="0"/>
              <a:t>The agent is not “smarter”</a:t>
            </a:r>
          </a:p>
          <a:p>
            <a:r>
              <a:rPr lang="en-US" dirty="0"/>
              <a:t>It’s responsible for:</a:t>
            </a:r>
          </a:p>
          <a:p>
            <a:pPr lvl="1"/>
            <a:r>
              <a:rPr lang="en-US" dirty="0"/>
              <a:t>Planning steps</a:t>
            </a:r>
          </a:p>
          <a:p>
            <a:pPr lvl="1"/>
            <a:r>
              <a:rPr lang="en-US" dirty="0"/>
              <a:t>Choosing tools</a:t>
            </a:r>
          </a:p>
          <a:p>
            <a:pPr lvl="1"/>
            <a:r>
              <a:rPr lang="en-US" dirty="0"/>
              <a:t>Observing outcomes</a:t>
            </a:r>
          </a:p>
          <a:p>
            <a:pPr lvl="1"/>
            <a:r>
              <a:rPr lang="en-US" dirty="0"/>
              <a:t>Adjusting approach</a:t>
            </a:r>
          </a:p>
          <a:p>
            <a:r>
              <a:rPr lang="en-US" dirty="0"/>
              <a:t>Think of it as:</a:t>
            </a:r>
          </a:p>
          <a:p>
            <a:pPr lvl="1"/>
            <a:r>
              <a:rPr lang="en-US" dirty="0"/>
              <a:t>An orchestrator, not a chatbot</a:t>
            </a:r>
          </a:p>
          <a:p>
            <a:r>
              <a:rPr lang="en-US" dirty="0"/>
              <a:t>This is what enables multi-step reasoning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8F3A9-4EF5-5685-C5D4-4166FE9C6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2E69-096D-40C3-9B9F-C12CA52F5F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10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3A9D8-C1D0-E0C4-5A47-E02B92C8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BB8C3-288E-91F6-DA23-919174631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B9810-B0AF-1466-6BF0-127316819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Show </a:t>
            </a:r>
            <a:r>
              <a:rPr lang="en-US" b="1" dirty="0" err="1"/>
              <a:t>Weavieate’s</a:t>
            </a:r>
            <a:r>
              <a:rPr lang="en-US" b="1" dirty="0"/>
              <a:t> -&gt; Context Engineering eBook</a:t>
            </a:r>
          </a:p>
          <a:p>
            <a:endParaRPr lang="en-US" b="1" dirty="0"/>
          </a:p>
          <a:p>
            <a:r>
              <a:rPr lang="en-US" b="1" dirty="0"/>
              <a:t>Speaker notes</a:t>
            </a:r>
            <a:endParaRPr lang="en-US" dirty="0"/>
          </a:p>
          <a:p>
            <a:r>
              <a:rPr lang="en-US" dirty="0"/>
              <a:t>Instead of one query, the agent can:</a:t>
            </a:r>
          </a:p>
          <a:p>
            <a:pPr lvl="1"/>
            <a:r>
              <a:rPr lang="en-US" dirty="0"/>
              <a:t>Break a question into sub-questions</a:t>
            </a:r>
          </a:p>
          <a:p>
            <a:pPr lvl="1"/>
            <a:r>
              <a:rPr lang="en-US" dirty="0"/>
              <a:t>Run multiple targeted searches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“Compare fixes for slow network vs intermittent drops”</a:t>
            </a:r>
          </a:p>
          <a:p>
            <a:r>
              <a:rPr lang="en-US" dirty="0"/>
              <a:t>Each sub-question may hit:</a:t>
            </a:r>
          </a:p>
          <a:p>
            <a:pPr lvl="1"/>
            <a:r>
              <a:rPr lang="en-US" dirty="0"/>
              <a:t>Different documents</a:t>
            </a:r>
          </a:p>
          <a:p>
            <a:pPr lvl="1"/>
            <a:r>
              <a:rPr lang="en-US" dirty="0"/>
              <a:t>Different indexes</a:t>
            </a:r>
          </a:p>
          <a:p>
            <a:pPr lvl="1"/>
            <a:r>
              <a:rPr lang="en-US" dirty="0"/>
              <a:t>Different tools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9D4DB-915C-EBE1-42CC-4DB1C5655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2E69-096D-40C3-9B9F-C12CA52F5F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64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521B8-C2C4-5F1A-6FFE-831BE08D8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9B39B-30E6-6C70-CB15-F037EA015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C21DB-A6CD-97AF-3F45-9F6885FE7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</a:t>
            </a:r>
            <a:endParaRPr lang="en-US" dirty="0"/>
          </a:p>
          <a:p>
            <a:r>
              <a:rPr lang="en-US" dirty="0"/>
              <a:t>In Agentic RAG, vector search is just a tool</a:t>
            </a:r>
          </a:p>
          <a:p>
            <a:r>
              <a:rPr lang="en-US" dirty="0"/>
              <a:t>Other tools might include:</a:t>
            </a:r>
          </a:p>
          <a:p>
            <a:pPr lvl="1"/>
            <a:r>
              <a:rPr lang="en-US" dirty="0"/>
              <a:t>APIs</a:t>
            </a:r>
          </a:p>
          <a:p>
            <a:pPr lvl="1"/>
            <a:r>
              <a:rPr lang="en-US" dirty="0"/>
              <a:t>Databases</a:t>
            </a:r>
          </a:p>
          <a:p>
            <a:pPr lvl="1"/>
            <a:r>
              <a:rPr lang="en-US" dirty="0"/>
              <a:t>Calculations</a:t>
            </a:r>
          </a:p>
          <a:p>
            <a:pPr lvl="1"/>
            <a:r>
              <a:rPr lang="en-US" dirty="0"/>
              <a:t>Document diffing</a:t>
            </a:r>
          </a:p>
          <a:p>
            <a:r>
              <a:rPr lang="en-US" dirty="0"/>
              <a:t>Key mindset shift:</a:t>
            </a:r>
          </a:p>
          <a:p>
            <a:pPr lvl="1"/>
            <a:r>
              <a:rPr lang="en-US" dirty="0"/>
              <a:t>Retrieval is a </a:t>
            </a:r>
            <a:r>
              <a:rPr lang="en-US" b="1" dirty="0"/>
              <a:t>decision</a:t>
            </a:r>
            <a:r>
              <a:rPr lang="en-US" dirty="0"/>
              <a:t>, not a default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DF3E9-C9D3-D582-55A2-0154E16F3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2E69-096D-40C3-9B9F-C12CA52F5F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19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358EA-2606-B294-1318-B76AEFC7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07F06-E0A1-4561-575C-C063C5098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551B12-0646-40B1-89D2-D2DF0F70C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</a:t>
            </a:r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Comparing multiple documents or versions</a:t>
            </a:r>
          </a:p>
          <a:p>
            <a:pPr lvl="1"/>
            <a:r>
              <a:rPr lang="en-US" dirty="0"/>
              <a:t>Enterprise questions spanning multiple domains</a:t>
            </a:r>
          </a:p>
          <a:p>
            <a:pPr lvl="1"/>
            <a:r>
              <a:rPr lang="en-US" dirty="0"/>
              <a:t>Conversational troubleshooting flows</a:t>
            </a:r>
          </a:p>
          <a:p>
            <a:r>
              <a:rPr lang="en-US" dirty="0"/>
              <a:t>Pattern:</a:t>
            </a:r>
          </a:p>
          <a:p>
            <a:pPr lvl="1"/>
            <a:r>
              <a:rPr lang="en-US" dirty="0"/>
              <a:t>Anything that requires reasoning </a:t>
            </a:r>
            <a:r>
              <a:rPr lang="en-US" i="1" dirty="0"/>
              <a:t>about</a:t>
            </a:r>
            <a:r>
              <a:rPr lang="en-US" dirty="0"/>
              <a:t> retrieval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599ED-1F7B-7D79-E1E7-16D29AD06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2E69-096D-40C3-9B9F-C12CA52F5F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16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92FBA-2FFF-DE8C-7D14-F580EE21A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D519E-66E4-012E-8F75-80A9360FC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A7E02-6DCB-92B8-ECFC-50E8DFEBF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</a:t>
            </a:r>
            <a:endParaRPr lang="en-US" dirty="0"/>
          </a:p>
          <a:p>
            <a:r>
              <a:rPr lang="en-US" dirty="0"/>
              <a:t>Traditional RAG is a great baseline</a:t>
            </a:r>
          </a:p>
          <a:p>
            <a:r>
              <a:rPr lang="en-US" dirty="0"/>
              <a:t>Agentic RAG adds:</a:t>
            </a:r>
          </a:p>
          <a:p>
            <a:pPr lvl="1"/>
            <a:r>
              <a:rPr lang="en-US" dirty="0"/>
              <a:t>Control</a:t>
            </a:r>
          </a:p>
          <a:p>
            <a:pPr lvl="1"/>
            <a:r>
              <a:rPr lang="en-US" dirty="0"/>
              <a:t>Recovery</a:t>
            </a:r>
          </a:p>
          <a:p>
            <a:pPr lvl="1"/>
            <a:r>
              <a:rPr lang="en-US" dirty="0"/>
              <a:t>Reasoning</a:t>
            </a:r>
          </a:p>
          <a:p>
            <a:r>
              <a:rPr lang="en-US" dirty="0"/>
              <a:t>Think of agents as:</a:t>
            </a:r>
          </a:p>
          <a:p>
            <a:pPr lvl="1"/>
            <a:r>
              <a:rPr lang="en-US" dirty="0"/>
              <a:t>A power tool, not a default</a:t>
            </a:r>
          </a:p>
          <a:p>
            <a:r>
              <a:rPr lang="en-US" dirty="0"/>
              <a:t>Final thought:</a:t>
            </a:r>
          </a:p>
          <a:p>
            <a:pPr lvl="1"/>
            <a:r>
              <a:rPr lang="en-US" dirty="0"/>
              <a:t>“If your system never needs to think twice, you don’t need an agent.”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449C7-45A3-D738-CED9-C0D194C4D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2E69-096D-40C3-9B9F-C12CA52F5F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958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2E69-096D-40C3-9B9F-C12CA52F5F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71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A1126-ACE1-8826-6494-09963927A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68A48-21DE-95D3-D059-45B82754D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1A491-765E-29AF-5C10-3AEE205F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5A436-295D-40E3-8D1F-78714FE53E1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B2D3D-CB75-28C1-F3F3-AAB951D77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69288-4CA2-EEAB-5CD6-B5148558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25625-F1AB-4372-BA2A-44FD59ADC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02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89C2-349E-A209-4396-72D75C62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A2674-F75E-9E47-992C-5965DB57C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7C22E-6AA4-227F-72DA-68F67B92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5A436-295D-40E3-8D1F-78714FE53E1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CDF22-9AD7-6134-6A59-202E5002E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2C04F-5CB3-732F-F701-7672179C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25625-F1AB-4372-BA2A-44FD59ADC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66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E122D-F136-4217-18D3-3EB558DE9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5337F-2988-3768-1BAF-65ADF5C8A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DD643-6CDC-584D-402C-05960C84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5A436-295D-40E3-8D1F-78714FE53E1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94DB6-F8F9-A22B-72A0-A8B9A28D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1A1EA-CBDD-20B8-BB19-95FE8514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25625-F1AB-4372-BA2A-44FD59ADC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19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3AFA-4636-A1B4-BA77-9644DDA64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BD236-B98D-758D-120C-BA7B58646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5B8B0-0053-517A-9122-6E2A2F88B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C3E96-FFF8-7E13-3EA9-287AE17B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5A436-295D-40E3-8D1F-78714FE53E1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71E7A-169C-9E44-9643-55B08B6F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8B2BA-024B-F02E-A970-B70CE3684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25625-F1AB-4372-BA2A-44FD59ADC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11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502F-08A3-97E1-BB38-901C88A11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A53B2-CD90-7716-AAC6-03B9566A3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6CE4D-168F-6102-D921-538C02757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E72E7C-326A-59C6-41B8-CD8A18EEE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418BF-9EF4-D2E0-0E29-49F596E3B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1A3717-78D1-A892-BD88-E622AA267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5A436-295D-40E3-8D1F-78714FE53E1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3CF314-E4E1-D9B6-9225-D5447DEF6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3B890D-E69A-882E-79E4-537C088DF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25625-F1AB-4372-BA2A-44FD59ADC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5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4A9F-A1D2-33FE-F275-3F1CC468D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56AA8B-DDD4-5EC5-C836-92D815210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5A436-295D-40E3-8D1F-78714FE53E1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7834C-DDFB-4F4C-D365-38C58B8AE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B677D-5768-1349-F09F-A5D9F849E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25625-F1AB-4372-BA2A-44FD59ADC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3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5E089-ED0D-96BB-DC9D-919997B2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5A436-295D-40E3-8D1F-78714FE53E1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A0E519-7D4B-41F7-F406-63104274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D3337-366D-BE9E-1BF2-738BF9C4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25625-F1AB-4372-BA2A-44FD59ADC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12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82F3E-9B23-A053-8739-85D8C3C6B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54F26-A81C-D3AA-C8AE-C317692CA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7BD9A-CB76-A64D-7A28-784D3CE01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C1AD0-4260-2BB8-7409-D7B4BCD4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5A436-295D-40E3-8D1F-78714FE53E1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00325-B7F0-9F42-8C51-11778E7EC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E29A9-381D-1D44-4C21-EFE13F66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25625-F1AB-4372-BA2A-44FD59ADC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235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B4AEB-6483-B421-B3BE-7BED825A4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7F0E8-E827-CEB1-16DD-D74E3C444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C6D66-BF5C-EFD4-D626-F2C404E31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F8900-10DC-DEA5-376C-D59EAC44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5A436-295D-40E3-8D1F-78714FE53E1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7CF28-CA83-F34B-96AD-3B6FE88CF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CF5A7-734F-F21C-6A8A-A2C43D7B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25625-F1AB-4372-BA2A-44FD59ADC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E9DC0-A4CC-A604-E1B0-79EF25D0B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26105-21C2-89D8-B1EA-506E22345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54EA-ADC9-7828-EC84-D05EE4949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5A436-295D-40E3-8D1F-78714FE53E1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D0F59-E4A8-30AB-66BB-6CD75F69A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60CB5-AD46-FA2D-FF7F-F3820C78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25625-F1AB-4372-BA2A-44FD59ADC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9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BE8D91-9B62-4CCE-A879-92A144A090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A02547-1611-B4FD-1258-4C70BE162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6F99C-7475-2FCE-EAFD-715D233B6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5A436-295D-40E3-8D1F-78714FE53E1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EB501-134D-65DA-24B3-D390D2B3F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E15F1-F964-D156-C3D5-2A536E17B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25625-F1AB-4372-BA2A-44FD59ADC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85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5F720-2CF7-B9E1-B15C-0D115E6C0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114EC-94D6-09E1-E744-9E4E22B64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E34C9-AD68-7052-D9AF-31F7E7EEF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5A436-295D-40E3-8D1F-78714FE53E1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021D3-DBD5-4903-4E3F-58C797730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A765A-4CB8-DD39-FCFD-BA26E8A5A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25625-F1AB-4372-BA2A-44FD59ADC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0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hcloud/aisearch" TargetMode="External"/><Relationship Id="rId3" Type="http://schemas.openxmlformats.org/officeDocument/2006/relationships/hyperlink" Target="https://developer.microsoft.com/en-us/reactor/series/S-1631/?wt.mc_id=youtube_S-1631_organicsocial_reactor" TargetMode="External"/><Relationship Id="rId7" Type="http://schemas.openxmlformats.org/officeDocument/2006/relationships/hyperlink" Target="https://github.com/Azure-Samples/azure-search-python-samples" TargetMode="External"/><Relationship Id="rId12" Type="http://schemas.openxmlformats.org/officeDocument/2006/relationships/hyperlink" Target="https://www.youtube.com/playlist?list=PLw6Q5yaOiqfe0nUVEEsrZ7NglaVp56pDc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azure/search/agentic-retrieval-overview?tabs=quickstarts" TargetMode="External"/><Relationship Id="rId11" Type="http://schemas.openxmlformats.org/officeDocument/2006/relationships/hyperlink" Target="https://agentframework.dev/" TargetMode="External"/><Relationship Id="rId5" Type="http://schemas.openxmlformats.org/officeDocument/2006/relationships/hyperlink" Target="https://github.com/microsoft/agent-framework" TargetMode="External"/><Relationship Id="rId10" Type="http://schemas.openxmlformats.org/officeDocument/2006/relationships/hyperlink" Target="https://github.com/JasonHaley/agent-framework-agentic-rag-python" TargetMode="External"/><Relationship Id="rId4" Type="http://schemas.openxmlformats.org/officeDocument/2006/relationships/hyperlink" Target="https://learn.microsoft.com/en-us/agent-framework/overview/?wt.mc_id=youtube_26691_organicsocial_reactor&amp;pivots=programming-language-python" TargetMode="External"/><Relationship Id="rId9" Type="http://schemas.openxmlformats.org/officeDocument/2006/relationships/hyperlink" Target="https://www.youtube.com/watch?v=U77ufaeYiS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A591A-BCB2-8F6F-9732-CE8584EBA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Agentic RAG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2BBC1-D3F1-BF3D-0D08-25B6DABE9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 dirty="0"/>
              <a:t>Agent Framework Dev Project</a:t>
            </a:r>
          </a:p>
          <a:p>
            <a:pPr algn="l"/>
            <a:r>
              <a:rPr lang="en-US" dirty="0"/>
              <a:t>April 2026 – New Hampshire edition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en-US" dirty="0"/>
              <a:t>Jason Haley</a:t>
            </a:r>
            <a:br>
              <a:rPr lang="en-US" dirty="0"/>
            </a:br>
            <a:r>
              <a:rPr lang="en-US" sz="1800" dirty="0"/>
              <a:t>Microsoft AI MVP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jason@jasonhaley.com</a:t>
            </a:r>
          </a:p>
        </p:txBody>
      </p:sp>
    </p:spTree>
    <p:extLst>
      <p:ext uri="{BB962C8B-B14F-4D97-AF65-F5344CB8AC3E}">
        <p14:creationId xmlns:p14="http://schemas.microsoft.com/office/powerpoint/2010/main" val="962626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51E35-F0DF-53BD-3939-96532620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Today’s Overview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BDAFF-5838-364A-BCC4-6AFB744A0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Quick recap of traditional RAG</a:t>
            </a:r>
          </a:p>
          <a:p>
            <a:r>
              <a:rPr lang="en-US" sz="2400" dirty="0"/>
              <a:t>Why basic RAG breaks down</a:t>
            </a:r>
          </a:p>
          <a:p>
            <a:r>
              <a:rPr lang="en-US" sz="2400" dirty="0"/>
              <a:t>What makes agentic RAG “agentic”</a:t>
            </a:r>
          </a:p>
          <a:p>
            <a:r>
              <a:rPr lang="en-US" sz="2400" dirty="0"/>
              <a:t>Core concepts and architecture</a:t>
            </a:r>
          </a:p>
          <a:p>
            <a:r>
              <a:rPr lang="en-US" sz="2400" dirty="0"/>
              <a:t>When to use </a:t>
            </a:r>
            <a:r>
              <a:rPr lang="en-US" sz="2400"/>
              <a:t>agentic RAG</a:t>
            </a:r>
          </a:p>
          <a:p>
            <a:r>
              <a:rPr lang="en-US" sz="2400"/>
              <a:t>Key </a:t>
            </a:r>
            <a:r>
              <a:rPr lang="en-US" sz="2400" dirty="0"/>
              <a:t>takeaways</a:t>
            </a:r>
          </a:p>
        </p:txBody>
      </p:sp>
    </p:spTree>
    <p:extLst>
      <p:ext uri="{BB962C8B-B14F-4D97-AF65-F5344CB8AC3E}">
        <p14:creationId xmlns:p14="http://schemas.microsoft.com/office/powerpoint/2010/main" val="277498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D5ED5-89C9-2024-91DA-509B9092A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6703112-69C6-8B9A-CA42-6BC31387B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8867A0-DF6F-CA4B-2AEA-45AFCECF6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CD0A45-812E-E959-B375-59380CE45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69E4F6-C649-7AD0-269C-277644C24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D42403-7F28-C6CF-5DF1-1BC609D1C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FF5D2-4473-07B5-7F2E-C97D62D3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Traditional RAG in 60 Seconds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F2CE10-997A-E518-DB6B-A8D5FB14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145" y="1885279"/>
            <a:ext cx="9342857" cy="4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44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5E6D8E-F772-56A0-78B0-05A0889F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A883DE3-D7C0-367D-A4F2-7820E811A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6E60C4-8AD5-91E0-CBAC-B82E64DE2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92F313-E76E-AAAD-5E13-8B4312AAA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0BDDF6-1BA7-A7CB-D2B9-5AF40A441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5F8C02-6C11-7937-30D8-5B6E29E9B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52A10-CB31-8D08-250A-097902E4B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Traditional RAG: Quick Recap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D98AD3-C5EC-6519-E1FC-72077EEFA14F}"/>
              </a:ext>
            </a:extLst>
          </p:cNvPr>
          <p:cNvSpPr/>
          <p:nvPr/>
        </p:nvSpPr>
        <p:spPr>
          <a:xfrm>
            <a:off x="459349" y="2249786"/>
            <a:ext cx="11282995" cy="990600"/>
          </a:xfrm>
          <a:prstGeom prst="roundRect">
            <a:avLst>
              <a:gd name="adj" fmla="val 7692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544E2F-3C32-1575-F719-576E8F7044C9}"/>
              </a:ext>
            </a:extLst>
          </p:cNvPr>
          <p:cNvSpPr/>
          <p:nvPr/>
        </p:nvSpPr>
        <p:spPr>
          <a:xfrm>
            <a:off x="660903" y="2365972"/>
            <a:ext cx="9555993" cy="34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 Flow</a:t>
            </a:r>
            <a:endParaRPr lang="en-US" sz="2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B73B73F-19ED-4096-5D86-C569598E2E31}"/>
              </a:ext>
            </a:extLst>
          </p:cNvPr>
          <p:cNvSpPr/>
          <p:nvPr/>
        </p:nvSpPr>
        <p:spPr>
          <a:xfrm>
            <a:off x="660903" y="2783186"/>
            <a:ext cx="105291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 → Embed → Similarity search → Retrieve context → Generate answer</a:t>
            </a: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FC73A8C-D080-AED0-89A4-2D5E8DE9F4BD}"/>
              </a:ext>
            </a:extLst>
          </p:cNvPr>
          <p:cNvSpPr/>
          <p:nvPr/>
        </p:nvSpPr>
        <p:spPr>
          <a:xfrm>
            <a:off x="459349" y="3430886"/>
            <a:ext cx="11282995" cy="99060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C6269B8-F465-7C5D-4411-069A40547BF1}"/>
              </a:ext>
            </a:extLst>
          </p:cNvPr>
          <p:cNvSpPr/>
          <p:nvPr/>
        </p:nvSpPr>
        <p:spPr>
          <a:xfrm>
            <a:off x="660903" y="3621386"/>
            <a:ext cx="9555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400" b="1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Problem</a:t>
            </a: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Solves</a:t>
            </a:r>
            <a:endParaRPr lang="en-US" sz="2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A35CAC8-3419-4B8E-3D43-46285838EEFB}"/>
              </a:ext>
            </a:extLst>
          </p:cNvPr>
          <p:cNvSpPr/>
          <p:nvPr/>
        </p:nvSpPr>
        <p:spPr>
          <a:xfrm>
            <a:off x="660903" y="3964286"/>
            <a:ext cx="9555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Grounds LLM responses in your data, reducing hallucinations and providing source attribution</a:t>
            </a:r>
            <a:endParaRPr lang="en-US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816EDD0-1A73-B2C3-0C3B-8FFAC3E99E5D}"/>
              </a:ext>
            </a:extLst>
          </p:cNvPr>
          <p:cNvSpPr/>
          <p:nvPr/>
        </p:nvSpPr>
        <p:spPr>
          <a:xfrm>
            <a:off x="459349" y="4611986"/>
            <a:ext cx="11282995" cy="99060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114EE0A-3230-8079-BEAE-5DC9508A08C4}"/>
              </a:ext>
            </a:extLst>
          </p:cNvPr>
          <p:cNvSpPr/>
          <p:nvPr/>
        </p:nvSpPr>
        <p:spPr>
          <a:xfrm>
            <a:off x="660903" y="4802486"/>
            <a:ext cx="9555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&amp; Effective</a:t>
            </a:r>
            <a:endParaRPr lang="en-US" sz="24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43034A7-C46D-257E-9CD2-58839AA3637A}"/>
              </a:ext>
            </a:extLst>
          </p:cNvPr>
          <p:cNvSpPr/>
          <p:nvPr/>
        </p:nvSpPr>
        <p:spPr>
          <a:xfrm>
            <a:off x="660903" y="5145386"/>
            <a:ext cx="9555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great for straightforward queries with clear intent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463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2BF5D-D30A-3CF1-EF1C-B2B65654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Why Traditional RAG Breaks Down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7D50792-CCEE-67C6-B612-5FAEF212FE61}"/>
              </a:ext>
            </a:extLst>
          </p:cNvPr>
          <p:cNvSpPr/>
          <p:nvPr/>
        </p:nvSpPr>
        <p:spPr>
          <a:xfrm>
            <a:off x="4216652" y="380246"/>
            <a:ext cx="7742976" cy="1663762"/>
          </a:xfrm>
          <a:prstGeom prst="rect">
            <a:avLst/>
          </a:prstGeom>
          <a:solidFill>
            <a:srgbClr val="FFF5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7F55FDA-45B8-5210-C03A-6D20C86BE85F}"/>
              </a:ext>
            </a:extLst>
          </p:cNvPr>
          <p:cNvSpPr/>
          <p:nvPr/>
        </p:nvSpPr>
        <p:spPr>
          <a:xfrm>
            <a:off x="4209276" y="380246"/>
            <a:ext cx="26426" cy="166376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5742CE3-F7A1-4DF0-F0C6-190F12D6F217}"/>
              </a:ext>
            </a:extLst>
          </p:cNvPr>
          <p:cNvSpPr/>
          <p:nvPr/>
        </p:nvSpPr>
        <p:spPr>
          <a:xfrm>
            <a:off x="4350002" y="577158"/>
            <a:ext cx="7311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Query</a:t>
            </a:r>
            <a:endParaRPr lang="en-US" sz="2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7700CB0-2ACE-204F-68B8-00D1009EE841}"/>
              </a:ext>
            </a:extLst>
          </p:cNvPr>
          <p:cNvSpPr/>
          <p:nvPr/>
        </p:nvSpPr>
        <p:spPr>
          <a:xfrm>
            <a:off x="4388102" y="901008"/>
            <a:ext cx="7337176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were the key findings from our Q3 reports and how do they compare to industry trends?"</a:t>
            </a: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E93114C-033E-DBF7-FDC7-F36307ECFD2C}"/>
              </a:ext>
            </a:extLst>
          </p:cNvPr>
          <p:cNvSpPr/>
          <p:nvPr/>
        </p:nvSpPr>
        <p:spPr>
          <a:xfrm>
            <a:off x="4216652" y="2196408"/>
            <a:ext cx="7742976" cy="823916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E5B324A-EBDD-E925-ECE5-39ABC6C04861}"/>
              </a:ext>
            </a:extLst>
          </p:cNvPr>
          <p:cNvSpPr/>
          <p:nvPr/>
        </p:nvSpPr>
        <p:spPr>
          <a:xfrm>
            <a:off x="4367179" y="2366853"/>
            <a:ext cx="41421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Retrieval</a:t>
            </a:r>
            <a:endParaRPr lang="en-US" sz="24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FB65515F-A0A4-7613-B8E2-66C064E40A20}"/>
              </a:ext>
            </a:extLst>
          </p:cNvPr>
          <p:cNvSpPr/>
          <p:nvPr/>
        </p:nvSpPr>
        <p:spPr>
          <a:xfrm>
            <a:off x="4367179" y="2735186"/>
            <a:ext cx="7441921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similarity search can't break down complex queries</a:t>
            </a:r>
            <a:endParaRPr lang="en-US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87989DE9-1B0E-3424-AF14-251F79FF6CE3}"/>
              </a:ext>
            </a:extLst>
          </p:cNvPr>
          <p:cNvSpPr/>
          <p:nvPr/>
        </p:nvSpPr>
        <p:spPr>
          <a:xfrm>
            <a:off x="4217008" y="3163811"/>
            <a:ext cx="7742619" cy="917543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727AAC3E-BF58-1192-57A7-CE73882627A2}"/>
              </a:ext>
            </a:extLst>
          </p:cNvPr>
          <p:cNvSpPr/>
          <p:nvPr/>
        </p:nvSpPr>
        <p:spPr>
          <a:xfrm>
            <a:off x="4369051" y="3360102"/>
            <a:ext cx="2422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</a:t>
            </a:r>
            <a:endParaRPr lang="en-US" sz="24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B9693C23-73BD-32FD-8F8C-B511F488104A}"/>
              </a:ext>
            </a:extLst>
          </p:cNvPr>
          <p:cNvSpPr/>
          <p:nvPr/>
        </p:nvSpPr>
        <p:spPr>
          <a:xfrm>
            <a:off x="4367695" y="3770289"/>
            <a:ext cx="7357583" cy="275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search internal docs and external data</a:t>
            </a:r>
            <a:endParaRPr lang="en-US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D8187C8E-7D9A-165F-DA6D-8BE2E8FFF679}"/>
              </a:ext>
            </a:extLst>
          </p:cNvPr>
          <p:cNvSpPr/>
          <p:nvPr/>
        </p:nvSpPr>
        <p:spPr>
          <a:xfrm>
            <a:off x="4235702" y="4221443"/>
            <a:ext cx="7723926" cy="85725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B6408FDC-07D9-86A7-8BBF-382943D7A184}"/>
              </a:ext>
            </a:extLst>
          </p:cNvPr>
          <p:cNvSpPr/>
          <p:nvPr/>
        </p:nvSpPr>
        <p:spPr>
          <a:xfrm>
            <a:off x="4369052" y="4392893"/>
            <a:ext cx="2422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Iteration</a:t>
            </a:r>
            <a:endParaRPr lang="en-US" sz="24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A6753ED-CF1F-FB4B-07A3-C8CE5FD4A6FE}"/>
              </a:ext>
            </a:extLst>
          </p:cNvPr>
          <p:cNvSpPr/>
          <p:nvPr/>
        </p:nvSpPr>
        <p:spPr>
          <a:xfrm>
            <a:off x="4369052" y="4792944"/>
            <a:ext cx="4690930" cy="2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shot only, can't refine or follow up</a:t>
            </a:r>
            <a:endParaRPr lang="en-US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A9952930-8A1A-7216-1A67-D837EB36046B}"/>
              </a:ext>
            </a:extLst>
          </p:cNvPr>
          <p:cNvSpPr/>
          <p:nvPr/>
        </p:nvSpPr>
        <p:spPr>
          <a:xfrm>
            <a:off x="4216652" y="5229120"/>
            <a:ext cx="7742976" cy="990600"/>
          </a:xfrm>
          <a:prstGeom prst="roundRect">
            <a:avLst>
              <a:gd name="adj" fmla="val 7692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486535DA-6454-5C0D-720C-8FBD61B28F64}"/>
              </a:ext>
            </a:extLst>
          </p:cNvPr>
          <p:cNvSpPr/>
          <p:nvPr/>
        </p:nvSpPr>
        <p:spPr>
          <a:xfrm>
            <a:off x="4369052" y="5419620"/>
            <a:ext cx="72827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</a:t>
            </a:r>
            <a:endParaRPr lang="en-US" sz="24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0653E145-E10F-5250-D2E0-6BCEE763503F}"/>
              </a:ext>
            </a:extLst>
          </p:cNvPr>
          <p:cNvSpPr/>
          <p:nvPr/>
        </p:nvSpPr>
        <p:spPr>
          <a:xfrm>
            <a:off x="4350002" y="5819670"/>
            <a:ext cx="72827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RAG treats all queries the same way.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160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7A757-D5D7-D190-535F-AE1F977E5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05384E9-E80C-20F4-E041-39227AB01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5A278327-6515-9353-BBE1-E4DC924C6295}"/>
              </a:ext>
            </a:extLst>
          </p:cNvPr>
          <p:cNvSpPr/>
          <p:nvPr/>
        </p:nvSpPr>
        <p:spPr>
          <a:xfrm>
            <a:off x="8340986" y="3959131"/>
            <a:ext cx="3371838" cy="2088583"/>
          </a:xfrm>
          <a:prstGeom prst="roundRect">
            <a:avLst>
              <a:gd name="adj" fmla="val 4054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CF97E350-1EA0-1224-0023-46DBDF838BB1}"/>
              </a:ext>
            </a:extLst>
          </p:cNvPr>
          <p:cNvSpPr/>
          <p:nvPr/>
        </p:nvSpPr>
        <p:spPr>
          <a:xfrm>
            <a:off x="4365139" y="3959131"/>
            <a:ext cx="3371838" cy="2088583"/>
          </a:xfrm>
          <a:prstGeom prst="roundRect">
            <a:avLst>
              <a:gd name="adj" fmla="val 4054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DA3BCF-9C3C-AD36-A5A8-B76964CFC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06078A-F3D8-E3FF-94DC-6F8927F26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99A7E9-F0DB-45B7-CBF0-BB79DCC0A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D06E8F-86A7-BE2C-48AF-3EA0C50DD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5D80C-E3DA-AB6C-2580-E2635903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Makes Agentic RAG “Agentic”?</a:t>
            </a:r>
          </a:p>
        </p:txBody>
      </p:sp>
      <p:pic>
        <p:nvPicPr>
          <p:cNvPr id="5" name="Image 0" descr="/tmp/rasterized-gradient-5e6130ba.png">
            <a:extLst>
              <a:ext uri="{FF2B5EF4-FFF2-40B4-BE49-F238E27FC236}">
                <a16:creationId xmlns:a16="http://schemas.microsoft.com/office/drawing/2014/main" id="{C64C4132-BC41-1091-44F5-4563B1C11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14" y="2127564"/>
            <a:ext cx="11327896" cy="1301436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D8580C73-3E95-7527-C3B8-9438AFAA4E27}"/>
              </a:ext>
            </a:extLst>
          </p:cNvPr>
          <p:cNvSpPr/>
          <p:nvPr/>
        </p:nvSpPr>
        <p:spPr>
          <a:xfrm>
            <a:off x="613908" y="2403568"/>
            <a:ext cx="80055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becomes a reasoning engine</a:t>
            </a:r>
            <a:endParaRPr lang="en-US" sz="24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9FC45EF8-6854-FB21-C1F4-7504260A2D79}"/>
              </a:ext>
            </a:extLst>
          </p:cNvPr>
          <p:cNvSpPr/>
          <p:nvPr/>
        </p:nvSpPr>
        <p:spPr>
          <a:xfrm>
            <a:off x="613908" y="2898868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decides what to do, which tools to use, and when to stop</a:t>
            </a:r>
            <a:endParaRPr lang="en-US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5C1EA0FB-A778-8893-45D5-5F42C5E02CD1}"/>
              </a:ext>
            </a:extLst>
          </p:cNvPr>
          <p:cNvSpPr/>
          <p:nvPr/>
        </p:nvSpPr>
        <p:spPr>
          <a:xfrm>
            <a:off x="441614" y="3959131"/>
            <a:ext cx="3371838" cy="2088583"/>
          </a:xfrm>
          <a:prstGeom prst="roundRect">
            <a:avLst>
              <a:gd name="adj" fmla="val 4054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E68E69D-C056-DE55-0C27-038763692F07}"/>
              </a:ext>
            </a:extLst>
          </p:cNvPr>
          <p:cNvSpPr/>
          <p:nvPr/>
        </p:nvSpPr>
        <p:spPr>
          <a:xfrm>
            <a:off x="770326" y="4216401"/>
            <a:ext cx="2615676" cy="48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36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8D5B5F88-D1D0-A9DE-294E-00A690B350EE}"/>
              </a:ext>
            </a:extLst>
          </p:cNvPr>
          <p:cNvSpPr/>
          <p:nvPr/>
        </p:nvSpPr>
        <p:spPr>
          <a:xfrm>
            <a:off x="879893" y="4870072"/>
            <a:ext cx="23965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24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61C0FF6E-7E86-9152-86B0-861091E1FE96}"/>
              </a:ext>
            </a:extLst>
          </p:cNvPr>
          <p:cNvSpPr/>
          <p:nvPr/>
        </p:nvSpPr>
        <p:spPr>
          <a:xfrm>
            <a:off x="613908" y="5383666"/>
            <a:ext cx="3147222" cy="488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complex queries </a:t>
            </a:r>
          </a:p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steps</a:t>
            </a:r>
            <a:endParaRPr lang="en-US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6F4EF9DC-2FFB-AA3B-51CF-AD245BD88DD1}"/>
              </a:ext>
            </a:extLst>
          </p:cNvPr>
          <p:cNvSpPr/>
          <p:nvPr/>
        </p:nvSpPr>
        <p:spPr>
          <a:xfrm>
            <a:off x="4725914" y="4248211"/>
            <a:ext cx="25883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36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46445D9-5483-FD59-2F24-B24C399083A5}"/>
              </a:ext>
            </a:extLst>
          </p:cNvPr>
          <p:cNvSpPr/>
          <p:nvPr/>
        </p:nvSpPr>
        <p:spPr>
          <a:xfrm>
            <a:off x="4917674" y="4870072"/>
            <a:ext cx="23965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Selection</a:t>
            </a:r>
            <a:endParaRPr lang="en-US" sz="24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A404BC18-1962-20B2-5F19-6756BB817752}"/>
              </a:ext>
            </a:extLst>
          </p:cNvPr>
          <p:cNvSpPr/>
          <p:nvPr/>
        </p:nvSpPr>
        <p:spPr>
          <a:xfrm>
            <a:off x="4852787" y="5383666"/>
            <a:ext cx="2396541" cy="45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right data</a:t>
            </a:r>
          </a:p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source</a:t>
            </a:r>
            <a:endParaRPr lang="en-US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B32CB092-2ACA-3067-E30A-6EEAB7031E71}"/>
              </a:ext>
            </a:extLst>
          </p:cNvPr>
          <p:cNvSpPr/>
          <p:nvPr/>
        </p:nvSpPr>
        <p:spPr>
          <a:xfrm>
            <a:off x="8934133" y="4235011"/>
            <a:ext cx="23965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36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C9834751-6295-30FE-9838-43B53450C92A}"/>
              </a:ext>
            </a:extLst>
          </p:cNvPr>
          <p:cNvSpPr/>
          <p:nvPr/>
        </p:nvSpPr>
        <p:spPr>
          <a:xfrm>
            <a:off x="8727012" y="4870072"/>
            <a:ext cx="28107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</a:t>
            </a:r>
            <a:endParaRPr lang="en-US" sz="240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48881B31-8022-4C85-C6C6-0392DA23B880}"/>
              </a:ext>
            </a:extLst>
          </p:cNvPr>
          <p:cNvSpPr/>
          <p:nvPr/>
        </p:nvSpPr>
        <p:spPr>
          <a:xfrm>
            <a:off x="8828634" y="5383666"/>
            <a:ext cx="23965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until satisfied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614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0A0B6A-B319-CE5A-01B7-F186BDB9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E05DF2C-029A-6F94-32DC-804C8B971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415595-2D32-EC22-2CBF-36E1C3FAF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3011E0-16C5-FD4E-7A7A-D6A2EF233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B9E6E0-8035-ABBA-C015-5B310FE2D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584AFF-CFAD-88EA-7708-3F80F9D1A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8DB1D-7C66-37BC-6F2F-FC0D0A8F9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The Agents’ Jobs</a:t>
            </a:r>
          </a:p>
        </p:txBody>
      </p:sp>
      <p:sp>
        <p:nvSpPr>
          <p:cNvPr id="6" name="Graphic 24">
            <a:extLst>
              <a:ext uri="{FF2B5EF4-FFF2-40B4-BE49-F238E27FC236}">
                <a16:creationId xmlns:a16="http://schemas.microsoft.com/office/drawing/2014/main" id="{1A5CE38C-0450-FB4C-8DF1-52078DBA6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2304" y="1981913"/>
            <a:ext cx="489551" cy="489827"/>
          </a:xfrm>
          <a:custGeom>
            <a:avLst/>
            <a:gdLst>
              <a:gd name="connsiteX0" fmla="*/ 770994 w 907063"/>
              <a:gd name="connsiteY0" fmla="*/ 113334 h 907573"/>
              <a:gd name="connsiteX1" fmla="*/ 657654 w 907063"/>
              <a:gd name="connsiteY1" fmla="*/ 226764 h 907573"/>
              <a:gd name="connsiteX2" fmla="*/ 634387 w 907063"/>
              <a:gd name="connsiteY2" fmla="*/ 224361 h 907573"/>
              <a:gd name="connsiteX3" fmla="*/ 576334 w 907063"/>
              <a:gd name="connsiteY3" fmla="*/ 320421 h 907573"/>
              <a:gd name="connsiteX4" fmla="*/ 634932 w 907063"/>
              <a:gd name="connsiteY4" fmla="*/ 453897 h 907573"/>
              <a:gd name="connsiteX5" fmla="*/ 634932 w 907063"/>
              <a:gd name="connsiteY5" fmla="*/ 456528 h 907573"/>
              <a:gd name="connsiteX6" fmla="*/ 693710 w 907063"/>
              <a:gd name="connsiteY6" fmla="*/ 468365 h 907573"/>
              <a:gd name="connsiteX7" fmla="*/ 847197 w 907063"/>
              <a:gd name="connsiteY7" fmla="*/ 421959 h 907573"/>
              <a:gd name="connsiteX8" fmla="*/ 893603 w 907063"/>
              <a:gd name="connsiteY8" fmla="*/ 575451 h 907573"/>
              <a:gd name="connsiteX9" fmla="*/ 740117 w 907063"/>
              <a:gd name="connsiteY9" fmla="*/ 621852 h 907573"/>
              <a:gd name="connsiteX10" fmla="*/ 681057 w 907063"/>
              <a:gd name="connsiteY10" fmla="*/ 535217 h 907573"/>
              <a:gd name="connsiteX11" fmla="*/ 621189 w 907063"/>
              <a:gd name="connsiteY11" fmla="*/ 523198 h 907573"/>
              <a:gd name="connsiteX12" fmla="*/ 542183 w 907063"/>
              <a:gd name="connsiteY12" fmla="*/ 612228 h 907573"/>
              <a:gd name="connsiteX13" fmla="*/ 564633 w 907063"/>
              <a:gd name="connsiteY13" fmla="*/ 680803 h 907573"/>
              <a:gd name="connsiteX14" fmla="*/ 566901 w 907063"/>
              <a:gd name="connsiteY14" fmla="*/ 680803 h 907573"/>
              <a:gd name="connsiteX15" fmla="*/ 680204 w 907063"/>
              <a:gd name="connsiteY15" fmla="*/ 794270 h 907573"/>
              <a:gd name="connsiteX16" fmla="*/ 566737 w 907063"/>
              <a:gd name="connsiteY16" fmla="*/ 907573 h 907573"/>
              <a:gd name="connsiteX17" fmla="*/ 453434 w 907063"/>
              <a:gd name="connsiteY17" fmla="*/ 794106 h 907573"/>
              <a:gd name="connsiteX18" fmla="*/ 500140 w 907063"/>
              <a:gd name="connsiteY18" fmla="*/ 702482 h 907573"/>
              <a:gd name="connsiteX19" fmla="*/ 477644 w 907063"/>
              <a:gd name="connsiteY19" fmla="*/ 633726 h 907573"/>
              <a:gd name="connsiteX20" fmla="*/ 307476 w 907063"/>
              <a:gd name="connsiteY20" fmla="*/ 561477 h 907573"/>
              <a:gd name="connsiteX21" fmla="*/ 226066 w 907063"/>
              <a:gd name="connsiteY21" fmla="*/ 599937 h 907573"/>
              <a:gd name="connsiteX22" fmla="*/ 126102 w 907063"/>
              <a:gd name="connsiteY22" fmla="*/ 725314 h 907573"/>
              <a:gd name="connsiteX23" fmla="*/ 725 w 907063"/>
              <a:gd name="connsiteY23" fmla="*/ 625353 h 907573"/>
              <a:gd name="connsiteX24" fmla="*/ 100688 w 907063"/>
              <a:gd name="connsiteY24" fmla="*/ 499972 h 907573"/>
              <a:gd name="connsiteX25" fmla="*/ 198490 w 907063"/>
              <a:gd name="connsiteY25" fmla="*/ 537711 h 907573"/>
              <a:gd name="connsiteX26" fmla="*/ 278041 w 907063"/>
              <a:gd name="connsiteY26" fmla="*/ 500158 h 907573"/>
              <a:gd name="connsiteX27" fmla="*/ 313599 w 907063"/>
              <a:gd name="connsiteY27" fmla="*/ 338381 h 907573"/>
              <a:gd name="connsiteX28" fmla="*/ 268653 w 907063"/>
              <a:gd name="connsiteY28" fmla="*/ 287131 h 907573"/>
              <a:gd name="connsiteX29" fmla="*/ 121392 w 907063"/>
              <a:gd name="connsiteY29" fmla="*/ 223675 h 907573"/>
              <a:gd name="connsiteX30" fmla="*/ 184848 w 907063"/>
              <a:gd name="connsiteY30" fmla="*/ 76415 h 907573"/>
              <a:gd name="connsiteX31" fmla="*/ 332109 w 907063"/>
              <a:gd name="connsiteY31" fmla="*/ 139870 h 907573"/>
              <a:gd name="connsiteX32" fmla="*/ 321445 w 907063"/>
              <a:gd name="connsiteY32" fmla="*/ 244135 h 907573"/>
              <a:gd name="connsiteX33" fmla="*/ 366028 w 907063"/>
              <a:gd name="connsiteY33" fmla="*/ 294932 h 907573"/>
              <a:gd name="connsiteX34" fmla="*/ 453516 w 907063"/>
              <a:gd name="connsiteY34" fmla="*/ 272482 h 907573"/>
              <a:gd name="connsiteX35" fmla="*/ 518553 w 907063"/>
              <a:gd name="connsiteY35" fmla="*/ 284500 h 907573"/>
              <a:gd name="connsiteX36" fmla="*/ 575019 w 907063"/>
              <a:gd name="connsiteY36" fmla="*/ 191071 h 907573"/>
              <a:gd name="connsiteX37" fmla="*/ 579922 w 907063"/>
              <a:gd name="connsiteY37" fmla="*/ 30796 h 907573"/>
              <a:gd name="connsiteX38" fmla="*/ 740198 w 907063"/>
              <a:gd name="connsiteY38" fmla="*/ 35699 h 907573"/>
              <a:gd name="connsiteX39" fmla="*/ 770994 w 907063"/>
              <a:gd name="connsiteY39" fmla="*/ 113380 h 90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07063" h="907573">
                <a:moveTo>
                  <a:pt x="770994" y="113334"/>
                </a:moveTo>
                <a:cubicBezTo>
                  <a:pt x="771016" y="175955"/>
                  <a:pt x="720274" y="226739"/>
                  <a:pt x="657654" y="226764"/>
                </a:cubicBezTo>
                <a:cubicBezTo>
                  <a:pt x="649835" y="226767"/>
                  <a:pt x="642039" y="225962"/>
                  <a:pt x="634387" y="224361"/>
                </a:cubicBezTo>
                <a:lnTo>
                  <a:pt x="576334" y="320421"/>
                </a:lnTo>
                <a:cubicBezTo>
                  <a:pt x="613715" y="354730"/>
                  <a:pt x="634977" y="403160"/>
                  <a:pt x="634932" y="453897"/>
                </a:cubicBezTo>
                <a:lnTo>
                  <a:pt x="634932" y="456528"/>
                </a:lnTo>
                <a:lnTo>
                  <a:pt x="693710" y="468365"/>
                </a:lnTo>
                <a:cubicBezTo>
                  <a:pt x="723281" y="413165"/>
                  <a:pt x="792001" y="392388"/>
                  <a:pt x="847197" y="421959"/>
                </a:cubicBezTo>
                <a:cubicBezTo>
                  <a:pt x="902398" y="451530"/>
                  <a:pt x="923174" y="520250"/>
                  <a:pt x="893603" y="575451"/>
                </a:cubicBezTo>
                <a:cubicBezTo>
                  <a:pt x="864033" y="630646"/>
                  <a:pt x="795317" y="651423"/>
                  <a:pt x="740117" y="621852"/>
                </a:cubicBezTo>
                <a:cubicBezTo>
                  <a:pt x="707457" y="604359"/>
                  <a:pt x="685406" y="572013"/>
                  <a:pt x="681057" y="535217"/>
                </a:cubicBezTo>
                <a:lnTo>
                  <a:pt x="621189" y="523198"/>
                </a:lnTo>
                <a:cubicBezTo>
                  <a:pt x="605570" y="560887"/>
                  <a:pt x="577749" y="592241"/>
                  <a:pt x="542183" y="612228"/>
                </a:cubicBezTo>
                <a:lnTo>
                  <a:pt x="564633" y="680803"/>
                </a:lnTo>
                <a:lnTo>
                  <a:pt x="566901" y="680803"/>
                </a:lnTo>
                <a:cubicBezTo>
                  <a:pt x="629521" y="680849"/>
                  <a:pt x="680249" y="731650"/>
                  <a:pt x="680204" y="794270"/>
                </a:cubicBezTo>
                <a:cubicBezTo>
                  <a:pt x="680159" y="856890"/>
                  <a:pt x="629358" y="907618"/>
                  <a:pt x="566737" y="907573"/>
                </a:cubicBezTo>
                <a:cubicBezTo>
                  <a:pt x="504117" y="907528"/>
                  <a:pt x="453389" y="856727"/>
                  <a:pt x="453434" y="794106"/>
                </a:cubicBezTo>
                <a:cubicBezTo>
                  <a:pt x="453461" y="757855"/>
                  <a:pt x="470818" y="723803"/>
                  <a:pt x="500140" y="702482"/>
                </a:cubicBezTo>
                <a:lnTo>
                  <a:pt x="477644" y="633726"/>
                </a:lnTo>
                <a:cubicBezTo>
                  <a:pt x="411976" y="642579"/>
                  <a:pt x="346715" y="614872"/>
                  <a:pt x="307476" y="561477"/>
                </a:cubicBezTo>
                <a:lnTo>
                  <a:pt x="226066" y="599937"/>
                </a:lnTo>
                <a:cubicBezTo>
                  <a:pt x="233084" y="662163"/>
                  <a:pt x="188328" y="718297"/>
                  <a:pt x="126102" y="725314"/>
                </a:cubicBezTo>
                <a:cubicBezTo>
                  <a:pt x="63876" y="732334"/>
                  <a:pt x="7743" y="687579"/>
                  <a:pt x="725" y="625353"/>
                </a:cubicBezTo>
                <a:cubicBezTo>
                  <a:pt x="-6294" y="563123"/>
                  <a:pt x="38462" y="506993"/>
                  <a:pt x="100688" y="499972"/>
                </a:cubicBezTo>
                <a:cubicBezTo>
                  <a:pt x="137496" y="495823"/>
                  <a:pt x="174011" y="509914"/>
                  <a:pt x="198490" y="537711"/>
                </a:cubicBezTo>
                <a:lnTo>
                  <a:pt x="278041" y="500158"/>
                </a:lnTo>
                <a:cubicBezTo>
                  <a:pt x="263193" y="443652"/>
                  <a:pt x="276425" y="383454"/>
                  <a:pt x="313599" y="338381"/>
                </a:cubicBezTo>
                <a:lnTo>
                  <a:pt x="268653" y="287131"/>
                </a:lnTo>
                <a:cubicBezTo>
                  <a:pt x="210465" y="310273"/>
                  <a:pt x="144535" y="281863"/>
                  <a:pt x="121392" y="223675"/>
                </a:cubicBezTo>
                <a:cubicBezTo>
                  <a:pt x="98251" y="165488"/>
                  <a:pt x="126660" y="99557"/>
                  <a:pt x="184848" y="76415"/>
                </a:cubicBezTo>
                <a:cubicBezTo>
                  <a:pt x="243036" y="53273"/>
                  <a:pt x="308966" y="81683"/>
                  <a:pt x="332109" y="139870"/>
                </a:cubicBezTo>
                <a:cubicBezTo>
                  <a:pt x="345794" y="174281"/>
                  <a:pt x="341813" y="213207"/>
                  <a:pt x="321445" y="244135"/>
                </a:cubicBezTo>
                <a:lnTo>
                  <a:pt x="366028" y="294932"/>
                </a:lnTo>
                <a:cubicBezTo>
                  <a:pt x="392819" y="280159"/>
                  <a:pt x="422925" y="272434"/>
                  <a:pt x="453516" y="272482"/>
                </a:cubicBezTo>
                <a:cubicBezTo>
                  <a:pt x="476420" y="272482"/>
                  <a:pt x="498416" y="276745"/>
                  <a:pt x="518553" y="284500"/>
                </a:cubicBezTo>
                <a:lnTo>
                  <a:pt x="575019" y="191071"/>
                </a:lnTo>
                <a:cubicBezTo>
                  <a:pt x="532114" y="145458"/>
                  <a:pt x="534309" y="73701"/>
                  <a:pt x="579922" y="30796"/>
                </a:cubicBezTo>
                <a:cubicBezTo>
                  <a:pt x="625534" y="-12109"/>
                  <a:pt x="697293" y="-9914"/>
                  <a:pt x="740198" y="35699"/>
                </a:cubicBezTo>
                <a:cubicBezTo>
                  <a:pt x="759977" y="56728"/>
                  <a:pt x="770994" y="84510"/>
                  <a:pt x="770994" y="11338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94CDF3F7-77D4-0C2A-6F96-BADACDC8DB1D}"/>
              </a:ext>
            </a:extLst>
          </p:cNvPr>
          <p:cNvSpPr/>
          <p:nvPr/>
        </p:nvSpPr>
        <p:spPr>
          <a:xfrm>
            <a:off x="566379" y="1816542"/>
            <a:ext cx="2933434" cy="1153318"/>
          </a:xfrm>
          <a:prstGeom prst="roundRect">
            <a:avLst>
              <a:gd name="adj" fmla="val 9640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5957D57E-D158-E3D7-A055-E550D042A067}"/>
              </a:ext>
            </a:extLst>
          </p:cNvPr>
          <p:cNvSpPr/>
          <p:nvPr/>
        </p:nvSpPr>
        <p:spPr>
          <a:xfrm>
            <a:off x="942581" y="2198340"/>
            <a:ext cx="20856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THOUGHT</a:t>
            </a:r>
            <a:endParaRPr lang="en-US" sz="24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2070496-E321-FA8E-5F6B-F4353743E42E}"/>
              </a:ext>
            </a:extLst>
          </p:cNvPr>
          <p:cNvSpPr/>
          <p:nvPr/>
        </p:nvSpPr>
        <p:spPr>
          <a:xfrm>
            <a:off x="811155" y="2606968"/>
            <a:ext cx="2429616" cy="215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I need to find?</a:t>
            </a:r>
            <a:endParaRPr lang="en-US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639E317-94F5-BCDB-27AD-BC27019D1A3B}"/>
              </a:ext>
            </a:extLst>
          </p:cNvPr>
          <p:cNvSpPr/>
          <p:nvPr/>
        </p:nvSpPr>
        <p:spPr>
          <a:xfrm>
            <a:off x="4687670" y="1816542"/>
            <a:ext cx="2933434" cy="1153318"/>
          </a:xfrm>
          <a:prstGeom prst="roundRect">
            <a:avLst>
              <a:gd name="adj" fmla="val 964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24BB4A0-0114-AD93-8D25-07CA0CB62737}"/>
              </a:ext>
            </a:extLst>
          </p:cNvPr>
          <p:cNvSpPr/>
          <p:nvPr/>
        </p:nvSpPr>
        <p:spPr>
          <a:xfrm>
            <a:off x="5111564" y="2230805"/>
            <a:ext cx="20856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ACTION</a:t>
            </a:r>
            <a:endParaRPr lang="en-US" sz="24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A2824E0-9EB4-57F8-F224-7AB5771756F6}"/>
              </a:ext>
            </a:extLst>
          </p:cNvPr>
          <p:cNvSpPr/>
          <p:nvPr/>
        </p:nvSpPr>
        <p:spPr>
          <a:xfrm>
            <a:off x="5111564" y="2606955"/>
            <a:ext cx="2085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tool/search</a:t>
            </a:r>
            <a:endParaRPr lang="en-US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A1050FE-3000-7FF4-F99A-6D199ADEDD58}"/>
              </a:ext>
            </a:extLst>
          </p:cNvPr>
          <p:cNvSpPr/>
          <p:nvPr/>
        </p:nvSpPr>
        <p:spPr>
          <a:xfrm>
            <a:off x="8692189" y="1810863"/>
            <a:ext cx="2933433" cy="1153317"/>
          </a:xfrm>
          <a:prstGeom prst="roundRect">
            <a:avLst>
              <a:gd name="adj" fmla="val 9640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ABE0C008-A98A-A5BC-0B79-29C2A34B9EE1}"/>
              </a:ext>
            </a:extLst>
          </p:cNvPr>
          <p:cNvSpPr/>
          <p:nvPr/>
        </p:nvSpPr>
        <p:spPr>
          <a:xfrm>
            <a:off x="8852847" y="2194550"/>
            <a:ext cx="2667682" cy="35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OBSERVATION</a:t>
            </a:r>
            <a:endParaRPr lang="en-US" sz="2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B1DB28D4-A86B-8DB5-DD3A-D6ED8FDDE4D7}"/>
              </a:ext>
            </a:extLst>
          </p:cNvPr>
          <p:cNvSpPr/>
          <p:nvPr/>
        </p:nvSpPr>
        <p:spPr>
          <a:xfrm>
            <a:off x="9068945" y="2588848"/>
            <a:ext cx="2085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results</a:t>
            </a:r>
            <a:endParaRPr lang="en-US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DBFB5B79-B64D-CFF5-30C7-9CB85C47BD20}"/>
              </a:ext>
            </a:extLst>
          </p:cNvPr>
          <p:cNvSpPr/>
          <p:nvPr/>
        </p:nvSpPr>
        <p:spPr>
          <a:xfrm>
            <a:off x="3902202" y="2174176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558DD329-7F2F-E419-7DFC-3D544327E838}"/>
              </a:ext>
            </a:extLst>
          </p:cNvPr>
          <p:cNvSpPr/>
          <p:nvPr/>
        </p:nvSpPr>
        <p:spPr>
          <a:xfrm>
            <a:off x="7909706" y="2158231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3D2B8B1-77FB-88EA-BE48-7D28DA6DE8A1}"/>
              </a:ext>
            </a:extLst>
          </p:cNvPr>
          <p:cNvCxnSpPr>
            <a:cxnSpLocks/>
          </p:cNvCxnSpPr>
          <p:nvPr/>
        </p:nvCxnSpPr>
        <p:spPr>
          <a:xfrm>
            <a:off x="9967865" y="3147513"/>
            <a:ext cx="4528" cy="37119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CD693A0-1A59-1B81-069D-5E9555F714E8}"/>
              </a:ext>
            </a:extLst>
          </p:cNvPr>
          <p:cNvCxnSpPr>
            <a:cxnSpLocks/>
          </p:cNvCxnSpPr>
          <p:nvPr/>
        </p:nvCxnSpPr>
        <p:spPr>
          <a:xfrm flipH="1">
            <a:off x="1892174" y="3511562"/>
            <a:ext cx="808474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7DB23E-8653-5E88-A63F-440909C2B07F}"/>
              </a:ext>
            </a:extLst>
          </p:cNvPr>
          <p:cNvCxnSpPr>
            <a:cxnSpLocks/>
          </p:cNvCxnSpPr>
          <p:nvPr/>
        </p:nvCxnSpPr>
        <p:spPr>
          <a:xfrm flipV="1">
            <a:off x="1899317" y="3147513"/>
            <a:ext cx="0" cy="371192"/>
          </a:xfrm>
          <a:prstGeom prst="straightConnector1">
            <a:avLst/>
          </a:prstGeom>
          <a:ln>
            <a:headEnd type="none"/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3F215F2-3E96-FC03-5CCC-AC4090D1A6D0}"/>
              </a:ext>
            </a:extLst>
          </p:cNvPr>
          <p:cNvSpPr txBox="1"/>
          <p:nvPr/>
        </p:nvSpPr>
        <p:spPr>
          <a:xfrm>
            <a:off x="4461309" y="3095147"/>
            <a:ext cx="3759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4. REPEAT IF NEEDED</a:t>
            </a:r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A3277E0B-E12F-397E-7A32-2BE196C4CB29}"/>
              </a:ext>
            </a:extLst>
          </p:cNvPr>
          <p:cNvSpPr/>
          <p:nvPr/>
        </p:nvSpPr>
        <p:spPr>
          <a:xfrm>
            <a:off x="566379" y="3792646"/>
            <a:ext cx="11054714" cy="2609850"/>
          </a:xfrm>
          <a:prstGeom prst="roundRect">
            <a:avLst>
              <a:gd name="adj" fmla="val 292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0BB9DB42-C315-D547-8855-C922A09A2B0E}"/>
              </a:ext>
            </a:extLst>
          </p:cNvPr>
          <p:cNvSpPr/>
          <p:nvPr/>
        </p:nvSpPr>
        <p:spPr>
          <a:xfrm>
            <a:off x="802655" y="3983146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"What's our pricing vs competitors?"</a:t>
            </a:r>
            <a:endParaRPr lang="en-US" sz="135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24354777-FD49-6AC5-E959-7E8DA3BBB367}"/>
              </a:ext>
            </a:extLst>
          </p:cNvPr>
          <p:cNvSpPr/>
          <p:nvPr/>
        </p:nvSpPr>
        <p:spPr>
          <a:xfrm>
            <a:off x="802655" y="4326046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Thought: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Need internal pricing first</a:t>
            </a:r>
            <a:endParaRPr lang="en-US" sz="1500" dirty="0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698136B9-870B-D1EF-8976-F80A6A12BE2F}"/>
              </a:ext>
            </a:extLst>
          </p:cNvPr>
          <p:cNvSpPr/>
          <p:nvPr/>
        </p:nvSpPr>
        <p:spPr>
          <a:xfrm>
            <a:off x="802655" y="4649896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search_internal_docs("pricing")</a:t>
            </a:r>
            <a:endParaRPr lang="en-US" sz="1500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65297A2F-8E67-66A6-F6FE-606D7A6F987D}"/>
              </a:ext>
            </a:extLst>
          </p:cNvPr>
          <p:cNvSpPr/>
          <p:nvPr/>
        </p:nvSpPr>
        <p:spPr>
          <a:xfrm>
            <a:off x="802655" y="4973746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Observation: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Found our pricing → $49/month</a:t>
            </a:r>
            <a:endParaRPr lang="en-US" sz="150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6248EFB0-F8F2-94CB-F7E9-5EC9CF2D0920}"/>
              </a:ext>
            </a:extLst>
          </p:cNvPr>
          <p:cNvSpPr/>
          <p:nvPr/>
        </p:nvSpPr>
        <p:spPr>
          <a:xfrm>
            <a:off x="802655" y="5297596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Thought: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Now need competitor data</a:t>
            </a:r>
            <a:endParaRPr lang="en-US" sz="15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E94FB62C-D6C0-2A96-806C-7F7A31F73EA3}"/>
              </a:ext>
            </a:extLst>
          </p:cNvPr>
          <p:cNvSpPr/>
          <p:nvPr/>
        </p:nvSpPr>
        <p:spPr>
          <a:xfrm>
            <a:off x="802655" y="5621446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web_search("competitor pricing")</a:t>
            </a:r>
            <a:endParaRPr lang="en-US" sz="150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818CC6FD-262A-7B5F-B0DA-2E2EE583B558}"/>
              </a:ext>
            </a:extLst>
          </p:cNvPr>
          <p:cNvSpPr/>
          <p:nvPr/>
        </p:nvSpPr>
        <p:spPr>
          <a:xfrm>
            <a:off x="802655" y="5945296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Observation: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Found competitors → Average $55/month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48672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D76DE0-ED34-D510-7109-39337F02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F74874-E122-0534-ED27-F4CCD6538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1C2FBA-2979-A206-9257-360427CCB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6645B4-529E-E28D-5DEA-13157375C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AAF87D-141A-AE1C-F73B-4C48D5B27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625814-18A2-6E1C-EEB3-B7700CE3A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432C732-00F8-C99C-D601-66194DFDE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B187BE-FEC6-BF00-B666-8F5EEEE7F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D9FC6-2A10-B4FF-E6F0-78E22ADCE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Query Augmentation &amp; Multi-Step Retrieval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AFF3DD3-1B25-13EA-593A-811BB3BDAE1B}"/>
              </a:ext>
            </a:extLst>
          </p:cNvPr>
          <p:cNvSpPr/>
          <p:nvPr/>
        </p:nvSpPr>
        <p:spPr>
          <a:xfrm>
            <a:off x="4216652" y="380246"/>
            <a:ext cx="7742976" cy="1663762"/>
          </a:xfrm>
          <a:prstGeom prst="rect">
            <a:avLst/>
          </a:prstGeom>
          <a:solidFill>
            <a:srgbClr val="FFF5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CCB646F-3FA7-4D33-2CB2-9B8B0ED83CA4}"/>
              </a:ext>
            </a:extLst>
          </p:cNvPr>
          <p:cNvSpPr/>
          <p:nvPr/>
        </p:nvSpPr>
        <p:spPr>
          <a:xfrm>
            <a:off x="4209276" y="380246"/>
            <a:ext cx="26426" cy="166376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E5BA9C1-72EE-2530-A07C-1D0BE5385012}"/>
              </a:ext>
            </a:extLst>
          </p:cNvPr>
          <p:cNvSpPr/>
          <p:nvPr/>
        </p:nvSpPr>
        <p:spPr>
          <a:xfrm>
            <a:off x="4350002" y="577158"/>
            <a:ext cx="7311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Query</a:t>
            </a:r>
            <a:endParaRPr lang="en-US" sz="2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2202147-C93D-9BBB-0F11-BA0164F6E733}"/>
              </a:ext>
            </a:extLst>
          </p:cNvPr>
          <p:cNvSpPr/>
          <p:nvPr/>
        </p:nvSpPr>
        <p:spPr>
          <a:xfrm>
            <a:off x="4388102" y="901008"/>
            <a:ext cx="7337176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i="1" u="sng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were the key findings from our Q3 reports</a:t>
            </a:r>
            <a:r>
              <a:rPr lang="en-US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i="1" u="sng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they compare to industry trends?</a:t>
            </a:r>
            <a:r>
              <a:rPr lang="en-US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br>
              <a:rPr lang="en-US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506DF01-AD1D-ACBF-A46F-A7D906344FE7}"/>
              </a:ext>
            </a:extLst>
          </p:cNvPr>
          <p:cNvSpPr/>
          <p:nvPr/>
        </p:nvSpPr>
        <p:spPr>
          <a:xfrm>
            <a:off x="4216652" y="2927928"/>
            <a:ext cx="7742976" cy="823916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B63063B-6C09-7665-BAAE-E9F9A2783AA4}"/>
              </a:ext>
            </a:extLst>
          </p:cNvPr>
          <p:cNvSpPr/>
          <p:nvPr/>
        </p:nvSpPr>
        <p:spPr>
          <a:xfrm>
            <a:off x="4367179" y="3098373"/>
            <a:ext cx="41421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Rewriting</a:t>
            </a:r>
            <a:endParaRPr lang="en-US" sz="24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6E5F20B-DBD9-4495-D0F4-DF06345C6783}"/>
              </a:ext>
            </a:extLst>
          </p:cNvPr>
          <p:cNvSpPr/>
          <p:nvPr/>
        </p:nvSpPr>
        <p:spPr>
          <a:xfrm>
            <a:off x="4367179" y="3466706"/>
            <a:ext cx="7441921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original user query to be effective for your retrieval system</a:t>
            </a:r>
            <a:endParaRPr lang="en-US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6BDAC09A-3E07-2CEB-CCC0-183F47E9D780}"/>
              </a:ext>
            </a:extLst>
          </p:cNvPr>
          <p:cNvSpPr/>
          <p:nvPr/>
        </p:nvSpPr>
        <p:spPr>
          <a:xfrm>
            <a:off x="4217008" y="3895331"/>
            <a:ext cx="7742619" cy="917543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C3F21C0C-1E4F-B0CC-3B17-E9A89FA8FF4F}"/>
              </a:ext>
            </a:extLst>
          </p:cNvPr>
          <p:cNvSpPr/>
          <p:nvPr/>
        </p:nvSpPr>
        <p:spPr>
          <a:xfrm>
            <a:off x="4369051" y="4091622"/>
            <a:ext cx="3037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Query Expansion </a:t>
            </a:r>
            <a:endParaRPr lang="en-US" sz="24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7E91B08E-381B-05EC-38FA-959E5828D6D5}"/>
              </a:ext>
            </a:extLst>
          </p:cNvPr>
          <p:cNvSpPr/>
          <p:nvPr/>
        </p:nvSpPr>
        <p:spPr>
          <a:xfrm>
            <a:off x="4367695" y="4501809"/>
            <a:ext cx="7357583" cy="275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results by generating multiple queries from the original query</a:t>
            </a:r>
            <a:endParaRPr lang="en-US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FCE51C47-B449-9EF3-3452-B6F03EFD9D92}"/>
              </a:ext>
            </a:extLst>
          </p:cNvPr>
          <p:cNvSpPr/>
          <p:nvPr/>
        </p:nvSpPr>
        <p:spPr>
          <a:xfrm>
            <a:off x="4235702" y="4952963"/>
            <a:ext cx="7723926" cy="85725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BF150676-5616-8F6F-8B00-0435073F1FA9}"/>
              </a:ext>
            </a:extLst>
          </p:cNvPr>
          <p:cNvSpPr/>
          <p:nvPr/>
        </p:nvSpPr>
        <p:spPr>
          <a:xfrm>
            <a:off x="4369052" y="5124413"/>
            <a:ext cx="3883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Query Decomposition</a:t>
            </a:r>
            <a:endParaRPr lang="en-US" sz="24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23821910-7333-4FDA-EAC8-D6898BD9571D}"/>
              </a:ext>
            </a:extLst>
          </p:cNvPr>
          <p:cNvSpPr/>
          <p:nvPr/>
        </p:nvSpPr>
        <p:spPr>
          <a:xfrm>
            <a:off x="4369052" y="5524464"/>
            <a:ext cx="6443728" cy="2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 complex user queries into focused sub-queries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662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EE9F1-6DF6-2141-BB76-5238B585F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D17D354-D555-9F38-0982-E21D688EB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49D9F8F8-9170-CFA5-3E77-1499E2990651}"/>
              </a:ext>
            </a:extLst>
          </p:cNvPr>
          <p:cNvSpPr/>
          <p:nvPr/>
        </p:nvSpPr>
        <p:spPr>
          <a:xfrm>
            <a:off x="8340986" y="4170951"/>
            <a:ext cx="3371838" cy="1876763"/>
          </a:xfrm>
          <a:prstGeom prst="roundRect">
            <a:avLst>
              <a:gd name="adj" fmla="val 4054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B562C7F7-EC5E-6F04-0233-975ECCC245CE}"/>
              </a:ext>
            </a:extLst>
          </p:cNvPr>
          <p:cNvSpPr/>
          <p:nvPr/>
        </p:nvSpPr>
        <p:spPr>
          <a:xfrm>
            <a:off x="4365139" y="4170951"/>
            <a:ext cx="3371838" cy="1876763"/>
          </a:xfrm>
          <a:prstGeom prst="roundRect">
            <a:avLst>
              <a:gd name="adj" fmla="val 4054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B0DF5D-71CF-CF75-3CE7-6D41D933B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263414-83D1-B4CF-D238-7D83F8BB3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D82D01-70E7-4D80-65AD-8260FD6D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2183A8C-432F-A521-0EC8-5E2349C54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BFBCDC-CD10-5400-B9C3-574A0B194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Retrieval Is Just One Tool</a:t>
            </a: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148CD8D0-ADE6-5C1B-1C77-9D138B481103}"/>
              </a:ext>
            </a:extLst>
          </p:cNvPr>
          <p:cNvSpPr/>
          <p:nvPr/>
        </p:nvSpPr>
        <p:spPr>
          <a:xfrm>
            <a:off x="441614" y="4183380"/>
            <a:ext cx="3371838" cy="1864334"/>
          </a:xfrm>
          <a:prstGeom prst="roundRect">
            <a:avLst>
              <a:gd name="adj" fmla="val 4054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F10DCB14-B563-0A0B-7887-B24DBA78A769}"/>
              </a:ext>
            </a:extLst>
          </p:cNvPr>
          <p:cNvSpPr/>
          <p:nvPr/>
        </p:nvSpPr>
        <p:spPr>
          <a:xfrm>
            <a:off x="879893" y="4870072"/>
            <a:ext cx="23965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Interpreter</a:t>
            </a:r>
            <a:endParaRPr lang="en-US" sz="24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C804B4C3-D321-0DFC-5E11-4F800C6D0F4F}"/>
              </a:ext>
            </a:extLst>
          </p:cNvPr>
          <p:cNvSpPr/>
          <p:nvPr/>
        </p:nvSpPr>
        <p:spPr>
          <a:xfrm>
            <a:off x="613908" y="5383666"/>
            <a:ext cx="3147222" cy="488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77EEBC04-C48A-6EC1-145A-7499B5186157}"/>
              </a:ext>
            </a:extLst>
          </p:cNvPr>
          <p:cNvSpPr/>
          <p:nvPr/>
        </p:nvSpPr>
        <p:spPr>
          <a:xfrm>
            <a:off x="4640580" y="4870072"/>
            <a:ext cx="284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Diffing</a:t>
            </a:r>
            <a:endParaRPr lang="en-US" sz="24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AF097684-B500-3C71-33C6-AF82DE49AC34}"/>
              </a:ext>
            </a:extLst>
          </p:cNvPr>
          <p:cNvSpPr/>
          <p:nvPr/>
        </p:nvSpPr>
        <p:spPr>
          <a:xfrm>
            <a:off x="4852787" y="5383666"/>
            <a:ext cx="2396541" cy="45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for Advanced Document Comparison</a:t>
            </a:r>
            <a:endParaRPr lang="en-US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1E794427-153C-F64D-2A3D-71A80E90B758}"/>
              </a:ext>
            </a:extLst>
          </p:cNvPr>
          <p:cNvSpPr/>
          <p:nvPr/>
        </p:nvSpPr>
        <p:spPr>
          <a:xfrm>
            <a:off x="8727012" y="4870072"/>
            <a:ext cx="28107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Calculators</a:t>
            </a:r>
            <a:endParaRPr lang="en-US" sz="240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2027FC73-D698-9735-B3A3-F0DC5E408DED}"/>
              </a:ext>
            </a:extLst>
          </p:cNvPr>
          <p:cNvSpPr/>
          <p:nvPr/>
        </p:nvSpPr>
        <p:spPr>
          <a:xfrm>
            <a:off x="8828634" y="5383666"/>
            <a:ext cx="23965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to Aggregate or Perform Complex Math</a:t>
            </a:r>
            <a:endParaRPr lang="en-US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84406E9-F71B-CDF0-933F-45FE8AA374B1}"/>
              </a:ext>
            </a:extLst>
          </p:cNvPr>
          <p:cNvSpPr/>
          <p:nvPr/>
        </p:nvSpPr>
        <p:spPr>
          <a:xfrm>
            <a:off x="459350" y="1971350"/>
            <a:ext cx="3371838" cy="1864334"/>
          </a:xfrm>
          <a:prstGeom prst="roundRect">
            <a:avLst>
              <a:gd name="adj" fmla="val 4054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235B489C-E996-D9C9-4963-4479CEC072D7}"/>
              </a:ext>
            </a:extLst>
          </p:cNvPr>
          <p:cNvSpPr/>
          <p:nvPr/>
        </p:nvSpPr>
        <p:spPr>
          <a:xfrm>
            <a:off x="897629" y="2658042"/>
            <a:ext cx="23965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24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A33CFD28-B0DD-12CD-E363-9C94FFF9755C}"/>
              </a:ext>
            </a:extLst>
          </p:cNvPr>
          <p:cNvSpPr/>
          <p:nvPr/>
        </p:nvSpPr>
        <p:spPr>
          <a:xfrm>
            <a:off x="631644" y="3171636"/>
            <a:ext cx="3147222" cy="488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Searches</a:t>
            </a:r>
            <a:endParaRPr lang="en-US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D196FEC-A431-2448-C1B2-DFAB5617F22D}"/>
              </a:ext>
            </a:extLst>
          </p:cNvPr>
          <p:cNvSpPr/>
          <p:nvPr/>
        </p:nvSpPr>
        <p:spPr>
          <a:xfrm>
            <a:off x="4365139" y="1971350"/>
            <a:ext cx="3371838" cy="1825683"/>
          </a:xfrm>
          <a:prstGeom prst="roundRect">
            <a:avLst>
              <a:gd name="adj" fmla="val 4054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367E891-0A9F-FE0D-EB70-F86AA710DACF}"/>
              </a:ext>
            </a:extLst>
          </p:cNvPr>
          <p:cNvSpPr/>
          <p:nvPr/>
        </p:nvSpPr>
        <p:spPr>
          <a:xfrm>
            <a:off x="4803418" y="2619391"/>
            <a:ext cx="23965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2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36C2124-7163-1544-EE28-0AC62143E284}"/>
              </a:ext>
            </a:extLst>
          </p:cNvPr>
          <p:cNvSpPr/>
          <p:nvPr/>
        </p:nvSpPr>
        <p:spPr>
          <a:xfrm>
            <a:off x="4537433" y="3132985"/>
            <a:ext cx="3147222" cy="488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External Data</a:t>
            </a:r>
            <a:endParaRPr lang="en-US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C2684F22-6BFF-BD33-6E59-40D103645888}"/>
              </a:ext>
            </a:extLst>
          </p:cNvPr>
          <p:cNvSpPr/>
          <p:nvPr/>
        </p:nvSpPr>
        <p:spPr>
          <a:xfrm>
            <a:off x="8360814" y="1971350"/>
            <a:ext cx="3371838" cy="1825683"/>
          </a:xfrm>
          <a:prstGeom prst="roundRect">
            <a:avLst>
              <a:gd name="adj" fmla="val 4054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8C2F2863-B18C-0984-7BB4-9C4B9A9DBE9A}"/>
              </a:ext>
            </a:extLst>
          </p:cNvPr>
          <p:cNvSpPr/>
          <p:nvPr/>
        </p:nvSpPr>
        <p:spPr>
          <a:xfrm>
            <a:off x="8799093" y="2619391"/>
            <a:ext cx="23965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SQL/APIs</a:t>
            </a:r>
            <a:endParaRPr lang="en-US" sz="24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9A6585D-031E-C6A9-121E-DDA3A9A80E61}"/>
              </a:ext>
            </a:extLst>
          </p:cNvPr>
          <p:cNvSpPr/>
          <p:nvPr/>
        </p:nvSpPr>
        <p:spPr>
          <a:xfrm>
            <a:off x="8533108" y="3132985"/>
            <a:ext cx="3147222" cy="488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Searches</a:t>
            </a:r>
            <a:endParaRPr lang="en-US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C6C53223-7629-F687-1990-83EC4B2866B5}"/>
              </a:ext>
            </a:extLst>
          </p:cNvPr>
          <p:cNvSpPr/>
          <p:nvPr/>
        </p:nvSpPr>
        <p:spPr>
          <a:xfrm>
            <a:off x="1014152" y="5383665"/>
            <a:ext cx="2396541" cy="45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Using Code to Analyze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53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4E981F-242F-5A8E-2E14-410025BAD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8CABE12-68F0-680C-BB93-BD0237315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428456-F7B4-944F-9D8E-B3C7AFC76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D433D2-DCE7-0E70-830B-C0CFB5C9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F2C51D-2634-7ACC-F773-0AC902FF2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5DE555-09CA-FEBC-19C3-B94CBDCAE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67EA27-5DC0-BF06-DF30-D00546F32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When to Use Agentic RAG</a:t>
            </a: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01CCF71C-7AAF-6AF6-D78D-193CDD7016B6}"/>
              </a:ext>
            </a:extLst>
          </p:cNvPr>
          <p:cNvSpPr/>
          <p:nvPr/>
        </p:nvSpPr>
        <p:spPr>
          <a:xfrm>
            <a:off x="670560" y="1973580"/>
            <a:ext cx="5118491" cy="3848100"/>
          </a:xfrm>
          <a:prstGeom prst="roundRect">
            <a:avLst>
              <a:gd name="adj" fmla="val 2814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20E6A9FD-D684-2390-5125-413E25A35A37}"/>
              </a:ext>
            </a:extLst>
          </p:cNvPr>
          <p:cNvSpPr/>
          <p:nvPr/>
        </p:nvSpPr>
        <p:spPr>
          <a:xfrm>
            <a:off x="1325567" y="2242555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RAG</a:t>
            </a:r>
            <a:endParaRPr lang="en-US" sz="24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413D39D7-5D7B-2396-4361-63BB347267FD}"/>
              </a:ext>
            </a:extLst>
          </p:cNvPr>
          <p:cNvSpPr/>
          <p:nvPr/>
        </p:nvSpPr>
        <p:spPr>
          <a:xfrm>
            <a:off x="990600" y="2644140"/>
            <a:ext cx="4511040" cy="1869585"/>
          </a:xfrm>
          <a:prstGeom prst="roundRect">
            <a:avLst>
              <a:gd name="adj" fmla="val 45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5E944F71-E497-6303-D125-DF4B31C8572A}"/>
              </a:ext>
            </a:extLst>
          </p:cNvPr>
          <p:cNvSpPr/>
          <p:nvPr/>
        </p:nvSpPr>
        <p:spPr>
          <a:xfrm>
            <a:off x="1101091" y="2834117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When to use:</a:t>
            </a:r>
            <a:endParaRPr lang="en-US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3DE7192A-F592-B5CB-1F64-4BDFAB298830}"/>
              </a:ext>
            </a:extLst>
          </p:cNvPr>
          <p:cNvSpPr/>
          <p:nvPr/>
        </p:nvSpPr>
        <p:spPr>
          <a:xfrm>
            <a:off x="1184911" y="3216256"/>
            <a:ext cx="3614166" cy="10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direct queries</a:t>
            </a:r>
            <a:endParaRPr lang="en-US" sz="1600" dirty="0"/>
          </a:p>
          <a:p>
            <a:pPr marL="285750" indent="-28575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data source</a:t>
            </a:r>
            <a:endParaRPr lang="en-US" sz="1600" dirty="0"/>
          </a:p>
          <a:p>
            <a:pPr marL="285750" indent="-28575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is critical</a:t>
            </a:r>
            <a:endParaRPr lang="en-US" sz="1600" dirty="0"/>
          </a:p>
          <a:p>
            <a:pPr marL="285750" indent="-28575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cost requirement</a:t>
            </a:r>
            <a:endParaRPr lang="en-US" sz="1600" dirty="0"/>
          </a:p>
          <a:p>
            <a:pPr marL="285750" indent="-28575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behavior needed</a:t>
            </a:r>
            <a:endParaRPr lang="en-US" sz="16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609C82EA-5AC1-6636-0D19-7AD55D83D8B1}"/>
              </a:ext>
            </a:extLst>
          </p:cNvPr>
          <p:cNvSpPr/>
          <p:nvPr/>
        </p:nvSpPr>
        <p:spPr>
          <a:xfrm>
            <a:off x="990600" y="4804089"/>
            <a:ext cx="4511040" cy="804231"/>
          </a:xfrm>
          <a:prstGeom prst="roundRect">
            <a:avLst>
              <a:gd name="adj" fmla="val 91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C4884A59-CF6A-E341-4AC0-37DF1850EF5D}"/>
              </a:ext>
            </a:extLst>
          </p:cNvPr>
          <p:cNvSpPr/>
          <p:nvPr/>
        </p:nvSpPr>
        <p:spPr>
          <a:xfrm>
            <a:off x="1101091" y="4934216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Example:</a:t>
            </a:r>
            <a:endParaRPr lang="en-US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3AA397D5-5C1F-316C-3488-49D350C1BE89}"/>
              </a:ext>
            </a:extLst>
          </p:cNvPr>
          <p:cNvSpPr/>
          <p:nvPr/>
        </p:nvSpPr>
        <p:spPr>
          <a:xfrm>
            <a:off x="1184911" y="5385025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our return policy?"</a:t>
            </a:r>
            <a:endParaRPr lang="en-US" sz="1600" dirty="0"/>
          </a:p>
        </p:txBody>
      </p:sp>
      <p:pic>
        <p:nvPicPr>
          <p:cNvPr id="37" name="Image 0" descr="/tmp/rasterized-gradient-09f1d913.png">
            <a:extLst>
              <a:ext uri="{FF2B5EF4-FFF2-40B4-BE49-F238E27FC236}">
                <a16:creationId xmlns:a16="http://schemas.microsoft.com/office/drawing/2014/main" id="{3E0595FF-90DC-8634-3BE5-5722FD6DF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950" y="1978363"/>
            <a:ext cx="5118490" cy="3843317"/>
          </a:xfrm>
          <a:prstGeom prst="rect">
            <a:avLst/>
          </a:prstGeom>
        </p:spPr>
      </p:pic>
      <p:sp>
        <p:nvSpPr>
          <p:cNvPr id="38" name="Text 9">
            <a:extLst>
              <a:ext uri="{FF2B5EF4-FFF2-40B4-BE49-F238E27FC236}">
                <a16:creationId xmlns:a16="http://schemas.microsoft.com/office/drawing/2014/main" id="{77FA0B09-3FF1-017E-F31B-76FBFB5CC1E1}"/>
              </a:ext>
            </a:extLst>
          </p:cNvPr>
          <p:cNvSpPr/>
          <p:nvPr/>
        </p:nvSpPr>
        <p:spPr>
          <a:xfrm>
            <a:off x="7057957" y="2242555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</a:t>
            </a:r>
            <a:endParaRPr lang="en-US" sz="24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02254FFD-C8C7-F3F6-7FF1-0FF1DA6041BA}"/>
              </a:ext>
            </a:extLst>
          </p:cNvPr>
          <p:cNvSpPr/>
          <p:nvPr/>
        </p:nvSpPr>
        <p:spPr>
          <a:xfrm>
            <a:off x="6758940" y="2641310"/>
            <a:ext cx="4442460" cy="1872415"/>
          </a:xfrm>
          <a:prstGeom prst="roundRect">
            <a:avLst>
              <a:gd name="adj" fmla="val 452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393441C4-30AA-9314-8AF7-B5E3046656F6}"/>
              </a:ext>
            </a:extLst>
          </p:cNvPr>
          <p:cNvSpPr/>
          <p:nvPr/>
        </p:nvSpPr>
        <p:spPr>
          <a:xfrm>
            <a:off x="6930771" y="2830697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When to use:</a:t>
            </a:r>
            <a:endParaRPr lang="en-US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7770E491-2C08-84DD-05B2-CBFC1377928A}"/>
              </a:ext>
            </a:extLst>
          </p:cNvPr>
          <p:cNvSpPr/>
          <p:nvPr/>
        </p:nvSpPr>
        <p:spPr>
          <a:xfrm>
            <a:off x="6914457" y="3172202"/>
            <a:ext cx="3614166" cy="116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Complex, multi-part queries</a:t>
            </a:r>
            <a:endParaRPr lang="en-US" sz="1600" dirty="0"/>
          </a:p>
          <a:p>
            <a:pPr marL="285750" indent="-28575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data sources</a:t>
            </a:r>
            <a:endParaRPr lang="en-US" sz="1600" dirty="0"/>
          </a:p>
          <a:p>
            <a:pPr marL="285750" indent="-28575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decomposition needed</a:t>
            </a:r>
            <a:endParaRPr lang="en-US" sz="1600" dirty="0"/>
          </a:p>
          <a:p>
            <a:pPr marL="285750" indent="-28575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refinement valuable</a:t>
            </a:r>
            <a:endParaRPr lang="en-US" sz="1600" dirty="0"/>
          </a:p>
          <a:p>
            <a:pPr marL="285750" indent="-28575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 over speed</a:t>
            </a:r>
            <a:endParaRPr lang="en-US" sz="160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15341EC9-C696-CD66-380F-FECBFC39E80E}"/>
              </a:ext>
            </a:extLst>
          </p:cNvPr>
          <p:cNvSpPr/>
          <p:nvPr/>
        </p:nvSpPr>
        <p:spPr>
          <a:xfrm>
            <a:off x="6758939" y="4782346"/>
            <a:ext cx="4442459" cy="825973"/>
          </a:xfrm>
          <a:prstGeom prst="roundRect">
            <a:avLst>
              <a:gd name="adj" fmla="val 7410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12E79B85-4040-F9EB-F43C-B03B8D112F47}"/>
              </a:ext>
            </a:extLst>
          </p:cNvPr>
          <p:cNvSpPr/>
          <p:nvPr/>
        </p:nvSpPr>
        <p:spPr>
          <a:xfrm>
            <a:off x="6825091" y="4932513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Example:</a:t>
            </a:r>
            <a:endParaRPr lang="en-US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FCDC452B-B836-6BB1-E6D7-5DF1C0FA5D01}"/>
              </a:ext>
            </a:extLst>
          </p:cNvPr>
          <p:cNvSpPr/>
          <p:nvPr/>
        </p:nvSpPr>
        <p:spPr>
          <a:xfrm>
            <a:off x="6825091" y="5255916"/>
            <a:ext cx="4442459" cy="265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our Q3 performance to industry trends and suggest areas for improvement"</a:t>
            </a:r>
            <a:endParaRPr lang="en-US" sz="825" dirty="0"/>
          </a:p>
        </p:txBody>
      </p:sp>
    </p:spTree>
    <p:extLst>
      <p:ext uri="{BB962C8B-B14F-4D97-AF65-F5344CB8AC3E}">
        <p14:creationId xmlns:p14="http://schemas.microsoft.com/office/powerpoint/2010/main" val="307820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53CB32-E69E-3FF3-7311-71CA40793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7DBFE76-97A5-E763-6828-4188E5CC6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AD6DFA-CF40-6236-8071-89CADE1B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5A024F-FD63-8DAA-9B20-CF1F2B675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CE6660-18E8-E82F-A3B4-A3EEC1108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FE99726-9B59-2009-B551-6D6B6FC0F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A8076D-4B6D-7744-7FB4-063811D8F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Key Takeaways</a:t>
            </a:r>
          </a:p>
        </p:txBody>
      </p:sp>
      <p:pic>
        <p:nvPicPr>
          <p:cNvPr id="5" name="Image 0" descr="/tmp/rasterized-gradient-698fb33f.png">
            <a:extLst>
              <a:ext uri="{FF2B5EF4-FFF2-40B4-BE49-F238E27FC236}">
                <a16:creationId xmlns:a16="http://schemas.microsoft.com/office/drawing/2014/main" id="{F5C9CECB-47D2-F24F-5404-C7DC05D3E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50" y="1891970"/>
            <a:ext cx="11199250" cy="1000125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CCF32F9C-DE9A-5FB1-878E-ECA1ED86E78A}"/>
              </a:ext>
            </a:extLst>
          </p:cNvPr>
          <p:cNvSpPr/>
          <p:nvPr/>
        </p:nvSpPr>
        <p:spPr>
          <a:xfrm>
            <a:off x="630800" y="2101520"/>
            <a:ext cx="80444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 = RAG + Reasoning</a:t>
            </a:r>
            <a:endParaRPr lang="en-US" sz="18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7B692C18-CC43-F628-22E6-2667DCE92D79}"/>
              </a:ext>
            </a:extLst>
          </p:cNvPr>
          <p:cNvSpPr/>
          <p:nvPr/>
        </p:nvSpPr>
        <p:spPr>
          <a:xfrm>
            <a:off x="630800" y="2482520"/>
            <a:ext cx="804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plans, selects tools, and iterates until it has enough information</a:t>
            </a:r>
            <a:endParaRPr lang="en-US" sz="1125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5AE0C12D-D2B6-5CF0-D665-5AC997856D87}"/>
              </a:ext>
            </a:extLst>
          </p:cNvPr>
          <p:cNvSpPr/>
          <p:nvPr/>
        </p:nvSpPr>
        <p:spPr>
          <a:xfrm>
            <a:off x="459350" y="3044495"/>
            <a:ext cx="11120900" cy="857101"/>
          </a:xfrm>
          <a:prstGeom prst="roundRect">
            <a:avLst>
              <a:gd name="adj" fmla="val 8890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74CA022E-725E-426B-A928-F79F1BF98ABB}"/>
              </a:ext>
            </a:extLst>
          </p:cNvPr>
          <p:cNvSpPr/>
          <p:nvPr/>
        </p:nvSpPr>
        <p:spPr>
          <a:xfrm>
            <a:off x="611750" y="3234995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</a:t>
            </a:r>
            <a:r>
              <a:rPr lang="en-US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complex, multi-source queries</a:t>
            </a:r>
            <a:endParaRPr lang="en-US" sz="12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DB4E4BB-4650-9698-F435-0A307996CA5B}"/>
              </a:ext>
            </a:extLst>
          </p:cNvPr>
          <p:cNvSpPr/>
          <p:nvPr/>
        </p:nvSpPr>
        <p:spPr>
          <a:xfrm>
            <a:off x="611750" y="3524466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query complexity justifies the additional cost and latency</a:t>
            </a:r>
            <a:endParaRPr lang="en-US" sz="105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5279B86F-0028-5A3A-2471-636C947AE363}"/>
              </a:ext>
            </a:extLst>
          </p:cNvPr>
          <p:cNvSpPr/>
          <p:nvPr/>
        </p:nvSpPr>
        <p:spPr>
          <a:xfrm>
            <a:off x="459350" y="4053996"/>
            <a:ext cx="11120900" cy="857101"/>
          </a:xfrm>
          <a:prstGeom prst="roundRect">
            <a:avLst>
              <a:gd name="adj" fmla="val 8890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BE87828E-B9FE-74E4-0EB2-5208848DC041}"/>
              </a:ext>
            </a:extLst>
          </p:cNvPr>
          <p:cNvSpPr/>
          <p:nvPr/>
        </p:nvSpPr>
        <p:spPr>
          <a:xfrm>
            <a:off x="611750" y="4244496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Trade flexibility for predictability</a:t>
            </a:r>
            <a:endParaRPr lang="en-US" sz="12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4728F839-F778-77E8-12E0-86EC76C93B7A}"/>
              </a:ext>
            </a:extLst>
          </p:cNvPr>
          <p:cNvSpPr/>
          <p:nvPr/>
        </p:nvSpPr>
        <p:spPr>
          <a:xfrm>
            <a:off x="611750" y="4533967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intelligent but less deterministic than traditional RAG</a:t>
            </a:r>
            <a:endParaRPr lang="en-US" sz="105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A338B36E-0436-B8FA-3164-ABB426F35468}"/>
              </a:ext>
            </a:extLst>
          </p:cNvPr>
          <p:cNvSpPr/>
          <p:nvPr/>
        </p:nvSpPr>
        <p:spPr>
          <a:xfrm>
            <a:off x="459350" y="5063497"/>
            <a:ext cx="11120900" cy="857101"/>
          </a:xfrm>
          <a:prstGeom prst="roundRect">
            <a:avLst>
              <a:gd name="adj" fmla="val 8890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43A6FDE-CCE0-E364-008B-91759A9BBCEF}"/>
              </a:ext>
            </a:extLst>
          </p:cNvPr>
          <p:cNvSpPr/>
          <p:nvPr/>
        </p:nvSpPr>
        <p:spPr>
          <a:xfrm>
            <a:off x="611750" y="5253998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</a:t>
            </a:r>
            <a:r>
              <a:rPr lang="en-US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 and iterate</a:t>
            </a:r>
            <a:endParaRPr lang="en-US" sz="12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A9687656-F622-B4A0-0019-205230339755}"/>
              </a:ext>
            </a:extLst>
          </p:cNvPr>
          <p:cNvSpPr/>
          <p:nvPr/>
        </p:nvSpPr>
        <p:spPr>
          <a:xfrm>
            <a:off x="611750" y="5543468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tools, clear descriptions, comprehensive logging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679206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DDFE49-D717-C10C-42B1-9BFF1D93F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Resources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23BD0-F454-ABF8-D8E4-62400D150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>
                <a:hlinkClick r:id="rId3"/>
              </a:rPr>
              <a:t>Python + Agents: Building AI agents and workflows with Agent Framework</a:t>
            </a:r>
            <a:endParaRPr lang="en-US" sz="2000" dirty="0"/>
          </a:p>
          <a:p>
            <a:r>
              <a:rPr lang="en-US" sz="2000" dirty="0"/>
              <a:t>Docs Getting Started: </a:t>
            </a:r>
            <a:r>
              <a:rPr lang="en-US" sz="2000" dirty="0">
                <a:hlinkClick r:id="rId4"/>
              </a:rPr>
              <a:t>Microsoft Agent Framework</a:t>
            </a:r>
            <a:endParaRPr lang="en-US" sz="2000" dirty="0"/>
          </a:p>
          <a:p>
            <a:r>
              <a:rPr lang="en-US" sz="2000"/>
              <a:t>Github</a:t>
            </a:r>
            <a:r>
              <a:rPr lang="en-US" sz="2000" dirty="0"/>
              <a:t>: </a:t>
            </a:r>
            <a:r>
              <a:rPr lang="en-US" sz="2000" dirty="0">
                <a:hlinkClick r:id="rId5"/>
              </a:rPr>
              <a:t>Agent-Framework</a:t>
            </a:r>
            <a:endParaRPr lang="en-US" sz="2000" dirty="0"/>
          </a:p>
          <a:p>
            <a:r>
              <a:rPr lang="en-US" sz="2000" dirty="0">
                <a:hlinkClick r:id="rId6"/>
              </a:rPr>
              <a:t>Agentic retrieval in Azure AI Search</a:t>
            </a:r>
            <a:endParaRPr lang="en-US" sz="2000" dirty="0"/>
          </a:p>
          <a:p>
            <a:r>
              <a:rPr lang="en-US" sz="2000" dirty="0">
                <a:hlinkClick r:id="rId7"/>
              </a:rPr>
              <a:t>Azure-Search-Python-Samples</a:t>
            </a:r>
            <a:r>
              <a:rPr lang="en-US" sz="2000" dirty="0"/>
              <a:t> – agentic-retrieval-pipeline-example and </a:t>
            </a:r>
            <a:r>
              <a:rPr lang="en-US" sz="2000"/>
              <a:t>Quickstart</a:t>
            </a:r>
            <a:r>
              <a:rPr lang="en-US" sz="2000" dirty="0"/>
              <a:t>-Agentic-Retrieval</a:t>
            </a:r>
          </a:p>
          <a:p>
            <a:r>
              <a:rPr lang="en-US" sz="2000" dirty="0"/>
              <a:t>Udai’s </a:t>
            </a:r>
            <a:r>
              <a:rPr lang="en-US" sz="2000"/>
              <a:t>Github</a:t>
            </a:r>
            <a:r>
              <a:rPr lang="en-US" sz="2000" dirty="0"/>
              <a:t>: </a:t>
            </a:r>
            <a:r>
              <a:rPr lang="en-US" sz="2000">
                <a:hlinkClick r:id="rId8"/>
              </a:rPr>
              <a:t>aisearch</a:t>
            </a:r>
            <a:r>
              <a:rPr lang="en-US" sz="2000" dirty="0"/>
              <a:t> – related YouTube video: </a:t>
            </a:r>
            <a:r>
              <a:rPr lang="en-US" sz="2000" dirty="0">
                <a:hlinkClick r:id="rId9"/>
              </a:rPr>
              <a:t>Building Enterprise AI Agents using Azure AI Search</a:t>
            </a:r>
            <a:endParaRPr lang="en-US" sz="2000" dirty="0"/>
          </a:p>
          <a:p>
            <a:r>
              <a:rPr lang="en-US" sz="2000" dirty="0"/>
              <a:t>My </a:t>
            </a:r>
            <a:r>
              <a:rPr lang="en-US" sz="2000"/>
              <a:t>Github</a:t>
            </a:r>
            <a:r>
              <a:rPr lang="en-US" sz="2000" dirty="0"/>
              <a:t>: </a:t>
            </a:r>
            <a:r>
              <a:rPr lang="en-US" sz="2000" dirty="0">
                <a:hlinkClick r:id="rId10"/>
              </a:rPr>
              <a:t>agent-framework-agentic-rag-python</a:t>
            </a:r>
            <a:endParaRPr lang="en-US" sz="2000" dirty="0"/>
          </a:p>
          <a:p>
            <a:r>
              <a:rPr lang="en-US" sz="2000">
                <a:hlinkClick r:id="rId11"/>
              </a:rPr>
              <a:t>AgentFramework.dev</a:t>
            </a:r>
            <a:endParaRPr lang="en-US" sz="2000" dirty="0"/>
          </a:p>
          <a:p>
            <a:r>
              <a:rPr lang="en-US" sz="2000" dirty="0">
                <a:hlinkClick r:id="rId12"/>
              </a:rPr>
              <a:t>Understanding Microsoft Agent Framework</a:t>
            </a:r>
            <a:r>
              <a:rPr lang="en-US" sz="2000" dirty="0"/>
              <a:t> – YouTube playlist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1066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583</TotalTime>
  <Words>1004</Words>
  <Application>Microsoft Office PowerPoint</Application>
  <PresentationFormat>Widescreen</PresentationFormat>
  <Paragraphs>220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Segoe UI</vt:lpstr>
      <vt:lpstr>Office Theme</vt:lpstr>
      <vt:lpstr>Agentic RAG</vt:lpstr>
      <vt:lpstr>Today’s Overview</vt:lpstr>
      <vt:lpstr>Traditional RAG in 60 Seconds</vt:lpstr>
      <vt:lpstr>Traditional RAG: Quick Recap</vt:lpstr>
      <vt:lpstr>Why Traditional RAG Breaks Down</vt:lpstr>
      <vt:lpstr>What Makes Agentic RAG “Agentic”?</vt:lpstr>
      <vt:lpstr>The Agents’ Jobs</vt:lpstr>
      <vt:lpstr>Query Augmentation &amp; Multi-Step Retrieval</vt:lpstr>
      <vt:lpstr>Retrieval Is Just One Tool</vt:lpstr>
      <vt:lpstr>When to Use Agentic RAG</vt:lpstr>
      <vt:lpstr>Key Takeaways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Haley</dc:creator>
  <cp:lastModifiedBy>Jason Haley</cp:lastModifiedBy>
  <cp:revision>10</cp:revision>
  <dcterms:created xsi:type="dcterms:W3CDTF">2026-01-13T20:57:08Z</dcterms:created>
  <dcterms:modified xsi:type="dcterms:W3CDTF">2026-04-17T16:53:09Z</dcterms:modified>
</cp:coreProperties>
</file>